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8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328CEF-A3B5-3EF5-1A29-6EB89C8DFF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CF9512-6FD3-3D60-6BAC-1EDF83B2EE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1558A-0203-4111-8B33-2933621B227F}" type="datetimeFigureOut">
              <a:rPr lang="en-IN" smtClean="0"/>
              <a:t>06-11-2024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0610F2-5D2B-A5A7-DCFB-61EED7C1D4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76492-9BEB-FD7E-EC56-BFB5ABB937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E74A9-A92E-4933-AF9A-CBA4DF11A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66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CF22C-613B-4C99-BB54-339A7BBBD147}" type="datetimeFigureOut">
              <a:rPr lang="en-IN" smtClean="0"/>
              <a:t>06-11-2024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EFF28-FEF2-4314-AA57-F5FE5C3A83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7763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EFF28-FEF2-4314-AA57-F5FE5C3A83F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713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F82CE-B5C9-9881-8C00-732E5B1F0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538DD-7F27-A98F-C52F-952CCEC29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1BB89-A5A4-A221-9165-78DF39B4D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7EEF1-117F-4C09-8586-16FBBBA46DFC}" type="datetime1">
              <a:rPr lang="en-IN" smtClean="0"/>
              <a:t>06-11-2024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366ED-BF1D-EBDA-D599-898964F4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DBE1E-FBDB-694A-2E34-274CCE08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6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30EAF-1B75-4F82-D105-59AC5251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FF5BA-10C6-CB79-CD07-B7B37AB20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D4CF9-5EE0-6D10-4839-2E7A77F59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401A2-6393-4454-B910-0E16F294A5C9}" type="datetime1">
              <a:rPr lang="en-IN" smtClean="0"/>
              <a:t>06-11-2024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D808E-5516-AAD8-D031-D1454ACE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7A334-F4C6-D172-5877-DB76C6D13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25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370E-9630-AF3F-6060-B66C0940B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65E54-A57E-806E-69A6-CAE530459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2584B-C956-95C5-AEB3-9400082B6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4001-38D4-434D-9B0B-BEC8DFD2FDE0}" type="datetime1">
              <a:rPr lang="en-IN" smtClean="0"/>
              <a:t>06-11-2024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C8B8D-3016-F485-BD00-592AD3B1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65A89-52F4-68FF-013E-A762673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444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09E64-1EB0-A6E6-A763-7D74E929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16EA2-853D-B1EB-B5E1-4206BD648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42F3C-61EE-2E19-FFB0-97207D648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6E4A9-9D57-2499-DB4E-686A0BCEB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9ECC-B628-4F75-903B-9EC77EF121AC}" type="datetime1">
              <a:rPr lang="en-IN" smtClean="0"/>
              <a:t>06-11-2024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2F530-F55E-2247-CB7A-58707A5ED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5880C-DDCD-D783-700D-F074EEBA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675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4C564-EAB1-A8EF-25CD-7C033B73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DF51C-0142-F25C-FD33-8956BFFFB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836B1-FD1C-7815-A2FD-EFCE0B9BA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33E367-D1B6-03F8-B30C-BECD1D974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890E02-D0B4-D264-44D7-1A389CCBB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D17C62-95BE-732A-E9D2-3DBBD2D0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845D-42CB-44CD-A649-F980ABE4F960}" type="datetime1">
              <a:rPr lang="en-IN" smtClean="0"/>
              <a:t>06-11-2024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F06B4D-756C-B349-2010-FD1D8768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C88A7D-202F-B5C6-7161-8CCE16A1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309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B85E-8999-6A8D-70C6-884AD1D5A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07A628-4BF0-FA2E-6833-2A74ED03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F3458-2989-4AAF-964F-B8F66EE944FC}" type="datetime1">
              <a:rPr lang="en-IN" smtClean="0"/>
              <a:t>06-11-2024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4E74E-4EA5-95F0-C62F-02B11C767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8250D-D35D-9661-A4F3-E958F1E4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33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06C77-B398-5490-98C2-1C5F23F9A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2112F-DF3F-486D-9A82-1DC7E1B7346C}" type="datetime1">
              <a:rPr lang="en-IN" smtClean="0"/>
              <a:t>06-11-2024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4532FD-893D-5655-6AA3-481E204F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57D61-3028-4855-E747-1849FBB5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467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6742-49C1-CDA9-D418-AC42473D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5E612-3668-B4DE-7005-4015B9A6D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EAD41-640F-75A8-D58F-F6F9C491B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85C0A-4749-DF69-6CA9-8C83F540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5A55F-96D0-4E90-B94F-D8710F2037D5}" type="datetime1">
              <a:rPr lang="en-IN" smtClean="0"/>
              <a:t>06-11-2024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9041F-931C-2295-2AF2-9ED1332B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A7086-B287-176C-A642-2FF948EE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546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EEC86-1786-2449-54DD-C0FCFE653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E0A7CD-E9C9-8A1F-68A8-8F4D974271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D9699-4683-6493-62DE-47F28C3E1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893C0-2D89-4F29-19E9-F860C52D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5120-1EA3-4C90-BA55-129F0F5F0343}" type="datetime1">
              <a:rPr lang="en-IN" smtClean="0"/>
              <a:t>06-11-2024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50D8C-5AF0-8CDD-1FC1-A489D03D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A1EBD-5784-CFDF-267F-A0EF684F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17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AB8D0-C5ED-C08A-5951-D7CB76CAC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C3156-0FD8-E28C-1BC7-479BA37E6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E27EB-1F73-1FDC-3F3F-6358D050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06D62-0131-4186-8BBD-59FE119D02D4}" type="datetime1">
              <a:rPr lang="en-IN" smtClean="0"/>
              <a:t>06-11-2024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8D86A-D2D4-F65E-A2EA-9796951DF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F4C7A-1C73-767F-F121-9DB65BBD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306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8C1A3-330E-3B4E-28EF-DD5BDDF39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32AD4-2DD5-F2F8-CBC1-E5D7179D7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363B9-42C9-D01D-C5A9-E5FA7A3D3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FA90-20B2-49FB-BEF2-8DCFE09BDB0F}" type="datetime1">
              <a:rPr lang="en-IN" smtClean="0"/>
              <a:t>06-11-2024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DC9B-CEDE-8DC9-F7F7-B2A440EB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AE411-0227-65B2-37E8-022A6C1A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67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30C88E-CC5C-609B-D42E-ED3F8BBD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05FAD-0341-DCDD-A852-3B374B014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E54E3-1216-6848-041E-8A3A635CD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9AEBA-A6AA-4EA2-9A67-F2D269B87B1F}" type="datetime1">
              <a:rPr lang="en-IN" smtClean="0"/>
              <a:t>06-11-2024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F4CB4-8816-2DCA-34F8-1561E6EA1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352C4-6EA5-8A7F-C3D5-0C929AE01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AFCA0-1C75-4A27-9A66-7B4BB1DFB9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271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10" Type="http://schemas.openxmlformats.org/officeDocument/2006/relationships/image" Target="../media/image9.jpeg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tklib.com/rtklib.htm" TargetMode="External"/><Relationship Id="rId2" Type="http://schemas.openxmlformats.org/officeDocument/2006/relationships/hyperlink" Target="http://www.ardupilot.org/planne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ixhawk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3D8E4-1F0F-C908-7099-EEB886BC7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960" y="1290320"/>
            <a:ext cx="11196320" cy="2971483"/>
          </a:xfrm>
        </p:spPr>
        <p:txBody>
          <a:bodyPr>
            <a:normAutofit/>
          </a:bodyPr>
          <a:lstStyle/>
          <a:p>
            <a:r>
              <a:rPr lang="en-US" sz="3600" b="0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</a:rPr>
              <a:t>Development of a GLOF Warning System through Strong Endurance Drone-based Long-Range (LoRa) Communication for the Upper Catchment of the Tista River</a:t>
            </a:r>
            <a:br>
              <a:rPr lang="en-US" sz="3600" b="0" i="0" u="none" strike="noStrike" baseline="0" dirty="0">
                <a:solidFill>
                  <a:srgbClr val="0070C0"/>
                </a:solidFill>
                <a:latin typeface="Times New Roman" panose="02020603050405020304" pitchFamily="18" charset="0"/>
              </a:rPr>
            </a:br>
            <a:br>
              <a:rPr lang="en-US" sz="3600" b="0" i="0" u="none" strike="noStrike" baseline="0" dirty="0">
                <a:solidFill>
                  <a:srgbClr val="0070C0"/>
                </a:solidFill>
                <a:latin typeface="Times New Roman" panose="02020603050405020304" pitchFamily="18" charset="0"/>
              </a:rPr>
            </a:br>
            <a:r>
              <a:rPr lang="en-US" sz="2400" b="1" i="1" u="sng" strike="noStrike" baseline="0" dirty="0">
                <a:solidFill>
                  <a:srgbClr val="92D050"/>
                </a:solidFill>
                <a:latin typeface="Times New Roman" panose="02020603050405020304" pitchFamily="18" charset="0"/>
              </a:rPr>
              <a:t>(Proposal under NIDM Research Project on Disaster Management: Innovation &amp; Action Research)</a:t>
            </a:r>
            <a:endParaRPr lang="en-IN" sz="2400" b="1" i="1" u="sng" dirty="0">
              <a:solidFill>
                <a:srgbClr val="92D05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5A9B3-92F4-BF68-AFED-D82A89FF9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2480"/>
            <a:ext cx="9144000" cy="1899920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Manoj Kumar Rana (</a:t>
            </a:r>
            <a:r>
              <a:rPr lang="en-IN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PI),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Snehasish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Ghosh (Co-PI)</a:t>
            </a:r>
          </a:p>
          <a:p>
            <a:r>
              <a:rPr lang="en-IN" sz="19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Computing Technologies</a:t>
            </a:r>
          </a:p>
          <a:p>
            <a:r>
              <a:rPr lang="en-IN" sz="19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SRM Institute of Science and Technology, </a:t>
            </a:r>
            <a:r>
              <a:rPr lang="en-IN" sz="1900" b="1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Kattankulathur</a:t>
            </a:r>
            <a:r>
              <a:rPr lang="en-IN" sz="19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Tamil Nadu, 603203, India</a:t>
            </a:r>
          </a:p>
        </p:txBody>
      </p:sp>
      <p:pic>
        <p:nvPicPr>
          <p:cNvPr id="4" name="Picture 3" descr="pngfind.com-kingpin-png-4152286 (1).png">
            <a:extLst>
              <a:ext uri="{FF2B5EF4-FFF2-40B4-BE49-F238E27FC236}">
                <a16:creationId xmlns:a16="http://schemas.microsoft.com/office/drawing/2014/main" id="{5598D4FC-92F5-35E6-FB2C-3AC05D1EF2B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91040" y="172720"/>
            <a:ext cx="2443480" cy="9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994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3B73-07F5-A2AF-2F65-5DAB3F8B9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090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and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43B2FD7-3038-C56C-196F-BEAA9F0F48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990951"/>
                  </p:ext>
                </p:extLst>
              </p:nvPr>
            </p:nvGraphicFramePr>
            <p:xfrm>
              <a:off x="5181601" y="1306287"/>
              <a:ext cx="6966858" cy="5470458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4463584">
                      <a:extLst>
                        <a:ext uri="{9D8B030D-6E8A-4147-A177-3AD203B41FA5}">
                          <a16:colId xmlns:a16="http://schemas.microsoft.com/office/drawing/2014/main" val="162004521"/>
                        </a:ext>
                      </a:extLst>
                    </a:gridCol>
                    <a:gridCol w="2503274">
                      <a:extLst>
                        <a:ext uri="{9D8B030D-6E8A-4147-A177-3AD203B41FA5}">
                          <a16:colId xmlns:a16="http://schemas.microsoft.com/office/drawing/2014/main" val="1148136792"/>
                        </a:ext>
                      </a:extLst>
                    </a:gridCol>
                  </a:tblGrid>
                  <a:tr h="560734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Glacier Lake Outburst Flood (GLOF)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1345972"/>
                      </a:ext>
                    </a:extLst>
                  </a:tr>
                  <a:tr h="432228"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Problem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Objective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8211483"/>
                      </a:ext>
                    </a:extLst>
                  </a:tr>
                  <a:tr h="1868765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 Limitations of existing imagery and barrier of Himalayan region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- Low spatial resolution (6-10 m per pixel)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- Bad weather condition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- Rugged terrain, unavoidable wind speed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- Ground based system not suitable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- Private satellite images are very costly (10-30$/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sz="1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500" b="0" smtClean="0">
                                      <a:latin typeface="Cambria Math" panose="02040503050406030204" pitchFamily="18" charset="0"/>
                                    </a:rPr>
                                    <m:t>𝐾𝑚</m:t>
                                  </m:r>
                                </m:e>
                                <m:sup>
                                  <m:r>
                                    <a:rPr lang="en-IN" sz="1500" b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 Development of a fixed wing, high endurance drone or UAV</a:t>
                          </a:r>
                        </a:p>
                        <a:p>
                          <a:pPr marL="0" indent="0">
                            <a:buNone/>
                          </a:pPr>
                          <a:endParaRPr lang="en-IN" sz="15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 Investigating and communicating ice fracturing and glacier lake outburst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2675412"/>
                      </a:ext>
                    </a:extLst>
                  </a:tr>
                  <a:tr h="1278628">
                    <a:tc>
                      <a:txBody>
                        <a:bodyPr/>
                        <a:lstStyle/>
                        <a:p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 Conventional mathematical model (e.g. GIS/DEM)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Static based on elevation and slope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Glacier level change, movement not detected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Limited pattern recognition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 Developing an ML/AI technique to integrate and </a:t>
                          </a:r>
                          <a:r>
                            <a:rPr lang="en-IN" sz="1500" b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analyze</a:t>
                          </a: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from both satellite and drone images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5569638"/>
                      </a:ext>
                    </a:extLst>
                  </a:tr>
                  <a:tr h="1278628">
                    <a:tc>
                      <a:txBody>
                        <a:bodyPr/>
                        <a:lstStyle/>
                        <a:p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 Data centric non-comprehensive Early Warning System (EWS)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Monitoring same location in same direction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Long time to predict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Lack of relevance in state and district level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 Implementation of a 4G/5G based warning system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35765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43B2FD7-3038-C56C-196F-BEAA9F0F48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990951"/>
                  </p:ext>
                </p:extLst>
              </p:nvPr>
            </p:nvGraphicFramePr>
            <p:xfrm>
              <a:off x="5181601" y="1306287"/>
              <a:ext cx="6966858" cy="5470458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4463584">
                      <a:extLst>
                        <a:ext uri="{9D8B030D-6E8A-4147-A177-3AD203B41FA5}">
                          <a16:colId xmlns:a16="http://schemas.microsoft.com/office/drawing/2014/main" val="162004521"/>
                        </a:ext>
                      </a:extLst>
                    </a:gridCol>
                    <a:gridCol w="2503274">
                      <a:extLst>
                        <a:ext uri="{9D8B030D-6E8A-4147-A177-3AD203B41FA5}">
                          <a16:colId xmlns:a16="http://schemas.microsoft.com/office/drawing/2014/main" val="1148136792"/>
                        </a:ext>
                      </a:extLst>
                    </a:gridCol>
                  </a:tblGrid>
                  <a:tr h="560734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I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Glacier Lake Outburst Flood (GLOF)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1345972"/>
                      </a:ext>
                    </a:extLst>
                  </a:tr>
                  <a:tr h="432228"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Problem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Objective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68211483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" t="-53333" r="-56831" b="-13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 Development of a fixed wing, high endurance drone or UAV</a:t>
                          </a:r>
                        </a:p>
                        <a:p>
                          <a:pPr marL="0" indent="0">
                            <a:buNone/>
                          </a:pPr>
                          <a:endParaRPr lang="en-IN" sz="15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 Investigating and communicating ice fracturing and glacier lake outburst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2675412"/>
                      </a:ext>
                    </a:extLst>
                  </a:tr>
                  <a:tr h="1278628">
                    <a:tc>
                      <a:txBody>
                        <a:bodyPr/>
                        <a:lstStyle/>
                        <a:p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 Conventional mathematical model (e.g. GIS/DEM)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Static based on elevation and slope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Glacier level change, movement not detected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Limited pattern recognition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 Developing an ML/AI technique to integrate and </a:t>
                          </a:r>
                          <a:r>
                            <a:rPr lang="en-IN" sz="1500" b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analyze</a:t>
                          </a:r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from both satellite and drone images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5569638"/>
                      </a:ext>
                    </a:extLst>
                  </a:tr>
                  <a:tr h="1278628">
                    <a:tc>
                      <a:txBody>
                        <a:bodyPr/>
                        <a:lstStyle/>
                        <a:p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 Data centric non-comprehensive Early Warning System (EWS)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Monitoring same location in same direction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Long time to predict</a:t>
                          </a:r>
                        </a:p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- Lack of relevance in state and district level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 Implementation of a 4G/5G based warning system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357656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3" descr="D:\CTECH\Research\student\Batch 26-27\GLOF\image\process\lake_elevation\lhonk23.tif">
            <a:extLst>
              <a:ext uri="{FF2B5EF4-FFF2-40B4-BE49-F238E27FC236}">
                <a16:creationId xmlns:a16="http://schemas.microsoft.com/office/drawing/2014/main" id="{E0640CFF-A7F5-4791-3BB1-3186F79A6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24" y="4335365"/>
            <a:ext cx="4781777" cy="2389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:\CTECH\Research\student\Batch 26-27\GLOF\image\process\lake_elevation\lhonok90.t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24" y="1599418"/>
            <a:ext cx="4781777" cy="2167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C100D1-EBA2-ED57-2FC9-01475A907AB5}"/>
              </a:ext>
            </a:extLst>
          </p:cNvPr>
          <p:cNvSpPr txBox="1"/>
          <p:nvPr/>
        </p:nvSpPr>
        <p:spPr>
          <a:xfrm>
            <a:off x="653142" y="1230086"/>
            <a:ext cx="401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Tista Basin, Sikkim [Dec 1990]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D9C29B-9DAC-5703-A163-C2E3B2CB1CF8}"/>
              </a:ext>
            </a:extLst>
          </p:cNvPr>
          <p:cNvSpPr txBox="1"/>
          <p:nvPr/>
        </p:nvSpPr>
        <p:spPr>
          <a:xfrm>
            <a:off x="653143" y="3966032"/>
            <a:ext cx="401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Tista Basin, Sikkim [Dec 2023]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199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2A8D-F2E6-3B00-9707-EB556150F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Glacial Lake Monitoring and Communication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FA950A-9F03-BB06-3125-A35675ADCB33}"/>
              </a:ext>
            </a:extLst>
          </p:cNvPr>
          <p:cNvGrpSpPr/>
          <p:nvPr/>
        </p:nvGrpSpPr>
        <p:grpSpPr>
          <a:xfrm>
            <a:off x="315686" y="1404257"/>
            <a:ext cx="11680371" cy="5355772"/>
            <a:chOff x="0" y="-1"/>
            <a:chExt cx="9144000" cy="63860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6E7DAE0-BFFE-561F-9005-9E2FED70D0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5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96" t="9914" r="14212" b="6249"/>
            <a:stretch/>
          </p:blipFill>
          <p:spPr bwMode="auto">
            <a:xfrm>
              <a:off x="0" y="-1"/>
              <a:ext cx="9144000" cy="6386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7A1A79-3563-5E87-929B-A566C3EDFA00}"/>
                </a:ext>
              </a:extLst>
            </p:cNvPr>
            <p:cNvSpPr/>
            <p:nvPr/>
          </p:nvSpPr>
          <p:spPr>
            <a:xfrm>
              <a:off x="8141200" y="3412936"/>
              <a:ext cx="926600" cy="549464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A81B380-F209-6639-59FA-74B6B6873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51" y="1393371"/>
            <a:ext cx="2783558" cy="267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close-up of a blue object">
            <a:extLst>
              <a:ext uri="{FF2B5EF4-FFF2-40B4-BE49-F238E27FC236}">
                <a16:creationId xmlns:a16="http://schemas.microsoft.com/office/drawing/2014/main" id="{E3AFC0A3-7E41-908D-5326-4E97B81CD6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170" y="1404257"/>
            <a:ext cx="3396344" cy="112769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8FBDDE-5F33-8A15-9153-BB730AA90897}"/>
              </a:ext>
            </a:extLst>
          </p:cNvPr>
          <p:cNvCxnSpPr>
            <a:cxnSpLocks/>
          </p:cNvCxnSpPr>
          <p:nvPr/>
        </p:nvCxnSpPr>
        <p:spPr>
          <a:xfrm flipV="1">
            <a:off x="5246914" y="1701574"/>
            <a:ext cx="3570515" cy="2032226"/>
          </a:xfrm>
          <a:prstGeom prst="line">
            <a:avLst/>
          </a:prstGeom>
          <a:ln w="25400">
            <a:solidFill>
              <a:srgbClr val="FF0000"/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C0E559-B2EF-9151-4B87-FE90DCAB2104}"/>
              </a:ext>
            </a:extLst>
          </p:cNvPr>
          <p:cNvCxnSpPr>
            <a:cxnSpLocks/>
          </p:cNvCxnSpPr>
          <p:nvPr/>
        </p:nvCxnSpPr>
        <p:spPr>
          <a:xfrm flipV="1">
            <a:off x="6226629" y="2438400"/>
            <a:ext cx="4637314" cy="1581831"/>
          </a:xfrm>
          <a:prstGeom prst="line">
            <a:avLst/>
          </a:prstGeom>
          <a:ln w="25400">
            <a:solidFill>
              <a:srgbClr val="FF0000"/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7FAA9D0-C9C4-5E45-879E-26BAECD95001}"/>
              </a:ext>
            </a:extLst>
          </p:cNvPr>
          <p:cNvSpPr/>
          <p:nvPr/>
        </p:nvSpPr>
        <p:spPr>
          <a:xfrm>
            <a:off x="8661952" y="1389225"/>
            <a:ext cx="3233697" cy="1264872"/>
          </a:xfrm>
          <a:custGeom>
            <a:avLst/>
            <a:gdLst>
              <a:gd name="connsiteX0" fmla="*/ 13960 w 3233697"/>
              <a:gd name="connsiteY0" fmla="*/ 374261 h 1264872"/>
              <a:gd name="connsiteX1" fmla="*/ 24846 w 3233697"/>
              <a:gd name="connsiteY1" fmla="*/ 1081832 h 1264872"/>
              <a:gd name="connsiteX2" fmla="*/ 242560 w 3233697"/>
              <a:gd name="connsiteY2" fmla="*/ 1081832 h 1264872"/>
              <a:gd name="connsiteX3" fmla="*/ 220789 w 3233697"/>
              <a:gd name="connsiteY3" fmla="*/ 265404 h 1264872"/>
              <a:gd name="connsiteX4" fmla="*/ 449389 w 3233697"/>
              <a:gd name="connsiteY4" fmla="*/ 232746 h 1264872"/>
              <a:gd name="connsiteX5" fmla="*/ 503817 w 3233697"/>
              <a:gd name="connsiteY5" fmla="*/ 1125375 h 1264872"/>
              <a:gd name="connsiteX6" fmla="*/ 732417 w 3233697"/>
              <a:gd name="connsiteY6" fmla="*/ 1092718 h 1264872"/>
              <a:gd name="connsiteX7" fmla="*/ 699760 w 3233697"/>
              <a:gd name="connsiteY7" fmla="*/ 221861 h 1264872"/>
              <a:gd name="connsiteX8" fmla="*/ 993675 w 3233697"/>
              <a:gd name="connsiteY8" fmla="*/ 232746 h 1264872"/>
              <a:gd name="connsiteX9" fmla="*/ 971903 w 3233697"/>
              <a:gd name="connsiteY9" fmla="*/ 1147146 h 1264872"/>
              <a:gd name="connsiteX10" fmla="*/ 1211389 w 3233697"/>
              <a:gd name="connsiteY10" fmla="*/ 1147146 h 1264872"/>
              <a:gd name="connsiteX11" fmla="*/ 1222275 w 3233697"/>
              <a:gd name="connsiteY11" fmla="*/ 178318 h 1264872"/>
              <a:gd name="connsiteX12" fmla="*/ 1439989 w 3233697"/>
              <a:gd name="connsiteY12" fmla="*/ 167432 h 1264872"/>
              <a:gd name="connsiteX13" fmla="*/ 1450875 w 3233697"/>
              <a:gd name="connsiteY13" fmla="*/ 1147146 h 1264872"/>
              <a:gd name="connsiteX14" fmla="*/ 1646817 w 3233697"/>
              <a:gd name="connsiteY14" fmla="*/ 1125375 h 1264872"/>
              <a:gd name="connsiteX15" fmla="*/ 1625046 w 3233697"/>
              <a:gd name="connsiteY15" fmla="*/ 113004 h 1264872"/>
              <a:gd name="connsiteX16" fmla="*/ 1799217 w 3233697"/>
              <a:gd name="connsiteY16" fmla="*/ 134775 h 1264872"/>
              <a:gd name="connsiteX17" fmla="*/ 1810103 w 3233697"/>
              <a:gd name="connsiteY17" fmla="*/ 1081832 h 1264872"/>
              <a:gd name="connsiteX18" fmla="*/ 2006046 w 3233697"/>
              <a:gd name="connsiteY18" fmla="*/ 1060061 h 1264872"/>
              <a:gd name="connsiteX19" fmla="*/ 1984275 w 3233697"/>
              <a:gd name="connsiteY19" fmla="*/ 113004 h 1264872"/>
              <a:gd name="connsiteX20" fmla="*/ 2212875 w 3233697"/>
              <a:gd name="connsiteY20" fmla="*/ 113004 h 1264872"/>
              <a:gd name="connsiteX21" fmla="*/ 2223760 w 3233697"/>
              <a:gd name="connsiteY21" fmla="*/ 972975 h 1264872"/>
              <a:gd name="connsiteX22" fmla="*/ 2419703 w 3233697"/>
              <a:gd name="connsiteY22" fmla="*/ 951204 h 1264872"/>
              <a:gd name="connsiteX23" fmla="*/ 2397932 w 3233697"/>
              <a:gd name="connsiteY23" fmla="*/ 178318 h 1264872"/>
              <a:gd name="connsiteX24" fmla="*/ 2593875 w 3233697"/>
              <a:gd name="connsiteY24" fmla="*/ 178318 h 1264872"/>
              <a:gd name="connsiteX25" fmla="*/ 2561217 w 3233697"/>
              <a:gd name="connsiteY25" fmla="*/ 875004 h 1264872"/>
              <a:gd name="connsiteX26" fmla="*/ 2702732 w 3233697"/>
              <a:gd name="connsiteY26" fmla="*/ 809689 h 1264872"/>
              <a:gd name="connsiteX27" fmla="*/ 2735389 w 3233697"/>
              <a:gd name="connsiteY27" fmla="*/ 134775 h 1264872"/>
              <a:gd name="connsiteX28" fmla="*/ 2898675 w 3233697"/>
              <a:gd name="connsiteY28" fmla="*/ 123889 h 1264872"/>
              <a:gd name="connsiteX29" fmla="*/ 2866017 w 3233697"/>
              <a:gd name="connsiteY29" fmla="*/ 689946 h 1264872"/>
              <a:gd name="connsiteX30" fmla="*/ 3029303 w 3233697"/>
              <a:gd name="connsiteY30" fmla="*/ 635518 h 1264872"/>
              <a:gd name="connsiteX31" fmla="*/ 3007532 w 3233697"/>
              <a:gd name="connsiteY31" fmla="*/ 102118 h 1264872"/>
              <a:gd name="connsiteX32" fmla="*/ 3007532 w 3233697"/>
              <a:gd name="connsiteY32" fmla="*/ 102118 h 1264872"/>
              <a:gd name="connsiteX33" fmla="*/ 3225246 w 3233697"/>
              <a:gd name="connsiteY33" fmla="*/ 113004 h 1264872"/>
              <a:gd name="connsiteX34" fmla="*/ 3192589 w 3233697"/>
              <a:gd name="connsiteY34" fmla="*/ 385146 h 1264872"/>
              <a:gd name="connsiteX35" fmla="*/ 3192589 w 3233697"/>
              <a:gd name="connsiteY35" fmla="*/ 385146 h 126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233697" h="1264872">
                <a:moveTo>
                  <a:pt x="13960" y="374261"/>
                </a:moveTo>
                <a:cubicBezTo>
                  <a:pt x="353" y="669082"/>
                  <a:pt x="-13254" y="963904"/>
                  <a:pt x="24846" y="1081832"/>
                </a:cubicBezTo>
                <a:cubicBezTo>
                  <a:pt x="62946" y="1199760"/>
                  <a:pt x="209903" y="1217903"/>
                  <a:pt x="242560" y="1081832"/>
                </a:cubicBezTo>
                <a:cubicBezTo>
                  <a:pt x="275217" y="945761"/>
                  <a:pt x="186318" y="406918"/>
                  <a:pt x="220789" y="265404"/>
                </a:cubicBezTo>
                <a:cubicBezTo>
                  <a:pt x="255260" y="123890"/>
                  <a:pt x="402218" y="89418"/>
                  <a:pt x="449389" y="232746"/>
                </a:cubicBezTo>
                <a:cubicBezTo>
                  <a:pt x="496560" y="376074"/>
                  <a:pt x="456646" y="982046"/>
                  <a:pt x="503817" y="1125375"/>
                </a:cubicBezTo>
                <a:cubicBezTo>
                  <a:pt x="550988" y="1268704"/>
                  <a:pt x="699760" y="1243304"/>
                  <a:pt x="732417" y="1092718"/>
                </a:cubicBezTo>
                <a:cubicBezTo>
                  <a:pt x="765074" y="942132"/>
                  <a:pt x="656217" y="365190"/>
                  <a:pt x="699760" y="221861"/>
                </a:cubicBezTo>
                <a:cubicBezTo>
                  <a:pt x="743303" y="78532"/>
                  <a:pt x="948318" y="78532"/>
                  <a:pt x="993675" y="232746"/>
                </a:cubicBezTo>
                <a:cubicBezTo>
                  <a:pt x="1039032" y="386960"/>
                  <a:pt x="935617" y="994746"/>
                  <a:pt x="971903" y="1147146"/>
                </a:cubicBezTo>
                <a:cubicBezTo>
                  <a:pt x="1008189" y="1299546"/>
                  <a:pt x="1169660" y="1308617"/>
                  <a:pt x="1211389" y="1147146"/>
                </a:cubicBezTo>
                <a:cubicBezTo>
                  <a:pt x="1253118" y="985675"/>
                  <a:pt x="1184175" y="341604"/>
                  <a:pt x="1222275" y="178318"/>
                </a:cubicBezTo>
                <a:cubicBezTo>
                  <a:pt x="1260375" y="15032"/>
                  <a:pt x="1401889" y="5961"/>
                  <a:pt x="1439989" y="167432"/>
                </a:cubicBezTo>
                <a:cubicBezTo>
                  <a:pt x="1478089" y="328903"/>
                  <a:pt x="1416404" y="987489"/>
                  <a:pt x="1450875" y="1147146"/>
                </a:cubicBezTo>
                <a:cubicBezTo>
                  <a:pt x="1485346" y="1306803"/>
                  <a:pt x="1617789" y="1297732"/>
                  <a:pt x="1646817" y="1125375"/>
                </a:cubicBezTo>
                <a:cubicBezTo>
                  <a:pt x="1675845" y="953018"/>
                  <a:pt x="1599646" y="278104"/>
                  <a:pt x="1625046" y="113004"/>
                </a:cubicBezTo>
                <a:cubicBezTo>
                  <a:pt x="1650446" y="-52096"/>
                  <a:pt x="1768374" y="-26696"/>
                  <a:pt x="1799217" y="134775"/>
                </a:cubicBezTo>
                <a:cubicBezTo>
                  <a:pt x="1830060" y="296246"/>
                  <a:pt x="1775632" y="927618"/>
                  <a:pt x="1810103" y="1081832"/>
                </a:cubicBezTo>
                <a:cubicBezTo>
                  <a:pt x="1844575" y="1236046"/>
                  <a:pt x="1977017" y="1221532"/>
                  <a:pt x="2006046" y="1060061"/>
                </a:cubicBezTo>
                <a:cubicBezTo>
                  <a:pt x="2035075" y="898590"/>
                  <a:pt x="1949804" y="270847"/>
                  <a:pt x="1984275" y="113004"/>
                </a:cubicBezTo>
                <a:cubicBezTo>
                  <a:pt x="2018747" y="-44839"/>
                  <a:pt x="2172961" y="-30325"/>
                  <a:pt x="2212875" y="113004"/>
                </a:cubicBezTo>
                <a:cubicBezTo>
                  <a:pt x="2252789" y="256332"/>
                  <a:pt x="2189289" y="833275"/>
                  <a:pt x="2223760" y="972975"/>
                </a:cubicBezTo>
                <a:cubicBezTo>
                  <a:pt x="2258231" y="1112675"/>
                  <a:pt x="2390674" y="1083647"/>
                  <a:pt x="2419703" y="951204"/>
                </a:cubicBezTo>
                <a:cubicBezTo>
                  <a:pt x="2448732" y="818761"/>
                  <a:pt x="2368903" y="307132"/>
                  <a:pt x="2397932" y="178318"/>
                </a:cubicBezTo>
                <a:cubicBezTo>
                  <a:pt x="2426961" y="49504"/>
                  <a:pt x="2566661" y="62204"/>
                  <a:pt x="2593875" y="178318"/>
                </a:cubicBezTo>
                <a:cubicBezTo>
                  <a:pt x="2621089" y="294432"/>
                  <a:pt x="2543074" y="769776"/>
                  <a:pt x="2561217" y="875004"/>
                </a:cubicBezTo>
                <a:cubicBezTo>
                  <a:pt x="2579360" y="980233"/>
                  <a:pt x="2673703" y="933060"/>
                  <a:pt x="2702732" y="809689"/>
                </a:cubicBezTo>
                <a:cubicBezTo>
                  <a:pt x="2731761" y="686318"/>
                  <a:pt x="2702732" y="249075"/>
                  <a:pt x="2735389" y="134775"/>
                </a:cubicBezTo>
                <a:cubicBezTo>
                  <a:pt x="2768046" y="20475"/>
                  <a:pt x="2876904" y="31360"/>
                  <a:pt x="2898675" y="123889"/>
                </a:cubicBezTo>
                <a:cubicBezTo>
                  <a:pt x="2920446" y="216417"/>
                  <a:pt x="2844246" y="604675"/>
                  <a:pt x="2866017" y="689946"/>
                </a:cubicBezTo>
                <a:cubicBezTo>
                  <a:pt x="2887788" y="775217"/>
                  <a:pt x="3005717" y="733489"/>
                  <a:pt x="3029303" y="635518"/>
                </a:cubicBezTo>
                <a:cubicBezTo>
                  <a:pt x="3052889" y="537547"/>
                  <a:pt x="3007532" y="102118"/>
                  <a:pt x="3007532" y="102118"/>
                </a:cubicBezTo>
                <a:lnTo>
                  <a:pt x="3007532" y="102118"/>
                </a:lnTo>
                <a:cubicBezTo>
                  <a:pt x="3043818" y="103932"/>
                  <a:pt x="3194403" y="65833"/>
                  <a:pt x="3225246" y="113004"/>
                </a:cubicBezTo>
                <a:cubicBezTo>
                  <a:pt x="3256089" y="160175"/>
                  <a:pt x="3192589" y="385146"/>
                  <a:pt x="3192589" y="385146"/>
                </a:cubicBezTo>
                <a:lnTo>
                  <a:pt x="3192589" y="385146"/>
                </a:lnTo>
              </a:path>
            </a:pathLst>
          </a:custGeom>
          <a:noFill/>
          <a:ln w="38100">
            <a:solidFill>
              <a:srgbClr val="FFFF00"/>
            </a:solidFill>
            <a:headEnd type="none"/>
            <a:tailEnd type="arrow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9" name="Picture 18" descr="A black object with a red stripe">
            <a:extLst>
              <a:ext uri="{FF2B5EF4-FFF2-40B4-BE49-F238E27FC236}">
                <a16:creationId xmlns:a16="http://schemas.microsoft.com/office/drawing/2014/main" id="{38A658DE-D3A5-52C9-F7C5-22C5A0714A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391" t="21270" r="7262" b="27229"/>
          <a:stretch/>
        </p:blipFill>
        <p:spPr>
          <a:xfrm rot="7127474">
            <a:off x="6280447" y="4416841"/>
            <a:ext cx="1046245" cy="913084"/>
          </a:xfrm>
          <a:prstGeom prst="rect">
            <a:avLst/>
          </a:prstGeom>
        </p:spPr>
      </p:pic>
      <p:pic>
        <p:nvPicPr>
          <p:cNvPr id="29" name="Picture 28" descr="A computer with a keyboard&#10;&#10;Description automatically generated">
            <a:extLst>
              <a:ext uri="{FF2B5EF4-FFF2-40B4-BE49-F238E27FC236}">
                <a16:creationId xmlns:a16="http://schemas.microsoft.com/office/drawing/2014/main" id="{37A26F95-7808-1FAC-B856-D43155698A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" t="1429" r="1183" b="1429"/>
          <a:stretch/>
        </p:blipFill>
        <p:spPr>
          <a:xfrm>
            <a:off x="10208912" y="3808512"/>
            <a:ext cx="881743" cy="598256"/>
          </a:xfrm>
          <a:prstGeom prst="rect">
            <a:avLst/>
          </a:prstGeom>
        </p:spPr>
      </p:pic>
      <p:sp>
        <p:nvSpPr>
          <p:cNvPr id="30" name="Rectangle: Single Corner Snipped 29">
            <a:extLst>
              <a:ext uri="{FF2B5EF4-FFF2-40B4-BE49-F238E27FC236}">
                <a16:creationId xmlns:a16="http://schemas.microsoft.com/office/drawing/2014/main" id="{98921D40-6A4D-8087-BC2E-74628AC0AE77}"/>
              </a:ext>
            </a:extLst>
          </p:cNvPr>
          <p:cNvSpPr/>
          <p:nvPr/>
        </p:nvSpPr>
        <p:spPr>
          <a:xfrm>
            <a:off x="5931620" y="5585024"/>
            <a:ext cx="1524000" cy="622075"/>
          </a:xfrm>
          <a:prstGeom prst="snip1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Image stored in SSD card</a:t>
            </a:r>
            <a:endParaRPr lang="en-IN" b="1" dirty="0">
              <a:solidFill>
                <a:schemeClr val="bg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17B21BC-6411-40B0-0656-DD29FF916426}"/>
              </a:ext>
            </a:extLst>
          </p:cNvPr>
          <p:cNvCxnSpPr>
            <a:cxnSpLocks/>
          </p:cNvCxnSpPr>
          <p:nvPr/>
        </p:nvCxnSpPr>
        <p:spPr>
          <a:xfrm flipV="1">
            <a:off x="6890657" y="3948714"/>
            <a:ext cx="3327997" cy="479826"/>
          </a:xfrm>
          <a:prstGeom prst="line">
            <a:avLst/>
          </a:prstGeom>
          <a:ln w="28575">
            <a:solidFill>
              <a:srgbClr val="00B0F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34A34A1-93F7-96A9-7717-F312CCF20D9A}"/>
              </a:ext>
            </a:extLst>
          </p:cNvPr>
          <p:cNvCxnSpPr>
            <a:cxnSpLocks/>
          </p:cNvCxnSpPr>
          <p:nvPr/>
        </p:nvCxnSpPr>
        <p:spPr>
          <a:xfrm flipV="1">
            <a:off x="6853751" y="4341906"/>
            <a:ext cx="3640078" cy="1083982"/>
          </a:xfrm>
          <a:prstGeom prst="line">
            <a:avLst/>
          </a:prstGeom>
          <a:ln w="28575">
            <a:solidFill>
              <a:schemeClr val="bg1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197BF73-8D13-576B-60E5-20CE1B11AD1E}"/>
              </a:ext>
            </a:extLst>
          </p:cNvPr>
          <p:cNvSpPr txBox="1"/>
          <p:nvPr/>
        </p:nvSpPr>
        <p:spPr>
          <a:xfrm rot="21070097">
            <a:off x="7414763" y="3441198"/>
            <a:ext cx="388321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A7E8FF"/>
                </a:solidFill>
              </a:rPr>
              <a:t>4G/5G connection to send instant images at regular intervals</a:t>
            </a:r>
            <a:endParaRPr lang="en-IN" sz="1600" b="1" dirty="0">
              <a:solidFill>
                <a:srgbClr val="A7E8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00DCD3-6E57-3DDA-F28E-57AB1FF64FE0}"/>
              </a:ext>
            </a:extLst>
          </p:cNvPr>
          <p:cNvSpPr txBox="1"/>
          <p:nvPr/>
        </p:nvSpPr>
        <p:spPr>
          <a:xfrm rot="20562347">
            <a:off x="7647879" y="4745334"/>
            <a:ext cx="33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LoRa Connection to control the drone (telemetry)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0941AE7-A93C-FBC4-8950-B9BDD855F8C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79" y="4195049"/>
            <a:ext cx="4921904" cy="25540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F51B65F-1060-52D3-E9BF-826BBE1D9509}"/>
              </a:ext>
            </a:extLst>
          </p:cNvPr>
          <p:cNvSpPr txBox="1"/>
          <p:nvPr/>
        </p:nvSpPr>
        <p:spPr>
          <a:xfrm>
            <a:off x="3396343" y="3037114"/>
            <a:ext cx="85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Lake 2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B9F9ED-798A-B90C-AFEC-3F9474542830}"/>
              </a:ext>
            </a:extLst>
          </p:cNvPr>
          <p:cNvSpPr txBox="1"/>
          <p:nvPr/>
        </p:nvSpPr>
        <p:spPr>
          <a:xfrm>
            <a:off x="3167743" y="1752601"/>
            <a:ext cx="85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Lake 3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CF061C-0312-B9B7-AD9A-CFF9A491281B}"/>
              </a:ext>
            </a:extLst>
          </p:cNvPr>
          <p:cNvSpPr txBox="1"/>
          <p:nvPr/>
        </p:nvSpPr>
        <p:spPr>
          <a:xfrm>
            <a:off x="7391396" y="1513111"/>
            <a:ext cx="85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Lake 4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2FB0F5-33FE-A1F3-6F14-E5AB60CC3A50}"/>
              </a:ext>
            </a:extLst>
          </p:cNvPr>
          <p:cNvSpPr txBox="1"/>
          <p:nvPr/>
        </p:nvSpPr>
        <p:spPr>
          <a:xfrm>
            <a:off x="9916886" y="2666998"/>
            <a:ext cx="1948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Drone trajectory over a lake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30D483-0A4A-86A4-33AE-A074E52EAA62}"/>
              </a:ext>
            </a:extLst>
          </p:cNvPr>
          <p:cNvSpPr txBox="1"/>
          <p:nvPr/>
        </p:nvSpPr>
        <p:spPr>
          <a:xfrm>
            <a:off x="10716463" y="4757055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Camp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9C537-4F0A-9A23-C6DD-30DA0A5C1FFE}"/>
              </a:ext>
            </a:extLst>
          </p:cNvPr>
          <p:cNvSpPr txBox="1"/>
          <p:nvPr/>
        </p:nvSpPr>
        <p:spPr>
          <a:xfrm>
            <a:off x="6477000" y="3233058"/>
            <a:ext cx="85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Lake 1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872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77A7-C8BD-C758-E83F-5BB50F563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059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Procedure</a:t>
            </a:r>
            <a:endParaRPr lang="en-IN" dirty="0"/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8D4578B9-0A58-BF2B-C77D-8712B7C5FE73}"/>
              </a:ext>
            </a:extLst>
          </p:cNvPr>
          <p:cNvSpPr/>
          <p:nvPr/>
        </p:nvSpPr>
        <p:spPr>
          <a:xfrm>
            <a:off x="4947920" y="1395072"/>
            <a:ext cx="1219200" cy="500743"/>
          </a:xfrm>
          <a:prstGeom prst="flowChartTerminator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0BE58ECF-6258-F5B7-6D11-ACB068D5A511}"/>
              </a:ext>
            </a:extLst>
          </p:cNvPr>
          <p:cNvSpPr/>
          <p:nvPr/>
        </p:nvSpPr>
        <p:spPr>
          <a:xfrm>
            <a:off x="3979091" y="2252553"/>
            <a:ext cx="3429000" cy="576943"/>
          </a:xfrm>
          <a:prstGeom prst="flowChartAlternateProcess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and Ground Station Set Up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33C808A1-E801-6549-89FA-391049C98F17}"/>
              </a:ext>
            </a:extLst>
          </p:cNvPr>
          <p:cNvSpPr/>
          <p:nvPr/>
        </p:nvSpPr>
        <p:spPr>
          <a:xfrm>
            <a:off x="3979091" y="3208166"/>
            <a:ext cx="3429000" cy="576943"/>
          </a:xfrm>
          <a:prstGeom prst="flowChartAlternateProcess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Flying to the Next Waypoint of the Lake Sequence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FC4EB40-8372-3509-4205-704ECB5EF748}"/>
              </a:ext>
            </a:extLst>
          </p:cNvPr>
          <p:cNvSpPr/>
          <p:nvPr/>
        </p:nvSpPr>
        <p:spPr>
          <a:xfrm>
            <a:off x="3979091" y="4136235"/>
            <a:ext cx="3429000" cy="778329"/>
          </a:xfrm>
          <a:prstGeom prst="flowChartAlternateProcess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and Store Images in Camera SSD Card and Sent to Ground Station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7F3950A9-0699-D946-EB00-6219581E676E}"/>
              </a:ext>
            </a:extLst>
          </p:cNvPr>
          <p:cNvSpPr/>
          <p:nvPr/>
        </p:nvSpPr>
        <p:spPr>
          <a:xfrm>
            <a:off x="8632729" y="1394677"/>
            <a:ext cx="2057402" cy="576943"/>
          </a:xfrm>
          <a:prstGeom prst="flowChartAlternateProcess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 Back to the Landing Site</a:t>
            </a:r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86FA8DC2-6DA7-BD8B-F7BE-292156E4A824}"/>
              </a:ext>
            </a:extLst>
          </p:cNvPr>
          <p:cNvSpPr/>
          <p:nvPr/>
        </p:nvSpPr>
        <p:spPr>
          <a:xfrm>
            <a:off x="4447176" y="5228210"/>
            <a:ext cx="2220687" cy="1513115"/>
          </a:xfrm>
          <a:prstGeom prst="flowChartDecision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IN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Lakes to Survey?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4BD16557-E1EA-1E2E-0526-3FB64DDAD6D4}"/>
              </a:ext>
            </a:extLst>
          </p:cNvPr>
          <p:cNvSpPr/>
          <p:nvPr/>
        </p:nvSpPr>
        <p:spPr>
          <a:xfrm>
            <a:off x="8224513" y="2219895"/>
            <a:ext cx="2884717" cy="576943"/>
          </a:xfrm>
          <a:prstGeom prst="flowChartAlternateProcess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Data Processing and Prediction</a:t>
            </a: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21DE70F0-C366-AC2A-DF19-0DD543085E38}"/>
              </a:ext>
            </a:extLst>
          </p:cNvPr>
          <p:cNvSpPr/>
          <p:nvPr/>
        </p:nvSpPr>
        <p:spPr>
          <a:xfrm>
            <a:off x="8355145" y="3912107"/>
            <a:ext cx="2634343" cy="1316104"/>
          </a:xfrm>
          <a:prstGeom prst="flowChartDecision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IN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Beyond Threshold?</a:t>
            </a: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CFEDED6E-253B-7D34-FD1F-A392377ADCD1}"/>
              </a:ext>
            </a:extLst>
          </p:cNvPr>
          <p:cNvSpPr/>
          <p:nvPr/>
        </p:nvSpPr>
        <p:spPr>
          <a:xfrm>
            <a:off x="8224513" y="3037573"/>
            <a:ext cx="2895604" cy="576943"/>
          </a:xfrm>
          <a:prstGeom prst="flowChartAlternateProcess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 and Labelling Vulnerability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4F23FE27-22B7-F806-0121-5E5FD99153D2}"/>
              </a:ext>
            </a:extLst>
          </p:cNvPr>
          <p:cNvSpPr/>
          <p:nvPr/>
        </p:nvSpPr>
        <p:spPr>
          <a:xfrm>
            <a:off x="8235400" y="5493882"/>
            <a:ext cx="2884717" cy="576943"/>
          </a:xfrm>
          <a:prstGeom prst="flowChartAlternateProcess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maps and Send Email/SMS automatically</a:t>
            </a:r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8F116ED8-B30F-3A72-CAF2-63D4D61ACF56}"/>
              </a:ext>
            </a:extLst>
          </p:cNvPr>
          <p:cNvSpPr/>
          <p:nvPr/>
        </p:nvSpPr>
        <p:spPr>
          <a:xfrm>
            <a:off x="9057272" y="6261104"/>
            <a:ext cx="1219200" cy="500743"/>
          </a:xfrm>
          <a:prstGeom prst="flowChartTerminator">
            <a:avLst/>
          </a:prstGeom>
          <a:solidFill>
            <a:srgbClr val="A7E8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568B2F8-4202-85B4-E486-6F12D71E8D88}"/>
              </a:ext>
            </a:extLst>
          </p:cNvPr>
          <p:cNvCxnSpPr>
            <a:stCxn id="10" idx="3"/>
            <a:endCxn id="9" idx="0"/>
          </p:cNvCxnSpPr>
          <p:nvPr/>
        </p:nvCxnSpPr>
        <p:spPr>
          <a:xfrm flipV="1">
            <a:off x="6667863" y="1394677"/>
            <a:ext cx="2993567" cy="4590091"/>
          </a:xfrm>
          <a:prstGeom prst="bentConnector4">
            <a:avLst>
              <a:gd name="adj1" fmla="val 32818"/>
              <a:gd name="adj2" fmla="val 10498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1B2CBE8-2A90-3514-0102-D66C770B48D7}"/>
              </a:ext>
            </a:extLst>
          </p:cNvPr>
          <p:cNvCxnSpPr>
            <a:stCxn id="10" idx="1"/>
            <a:endCxn id="7" idx="1"/>
          </p:cNvCxnSpPr>
          <p:nvPr/>
        </p:nvCxnSpPr>
        <p:spPr>
          <a:xfrm rot="10800000">
            <a:off x="3979092" y="3496638"/>
            <a:ext cx="468085" cy="2488130"/>
          </a:xfrm>
          <a:prstGeom prst="bentConnector3">
            <a:avLst>
              <a:gd name="adj1" fmla="val 1651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89BBCF0-FE77-0F88-7F99-ED9ADC0CED60}"/>
              </a:ext>
            </a:extLst>
          </p:cNvPr>
          <p:cNvCxnSpPr>
            <a:stCxn id="5" idx="2"/>
          </p:cNvCxnSpPr>
          <p:nvPr/>
        </p:nvCxnSpPr>
        <p:spPr>
          <a:xfrm flipH="1">
            <a:off x="5557519" y="1895815"/>
            <a:ext cx="1" cy="356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FC85B8-3E1A-222E-FE9D-22F78E8E9CE7}"/>
              </a:ext>
            </a:extLst>
          </p:cNvPr>
          <p:cNvCxnSpPr>
            <a:cxnSpLocks/>
          </p:cNvCxnSpPr>
          <p:nvPr/>
        </p:nvCxnSpPr>
        <p:spPr>
          <a:xfrm>
            <a:off x="5557519" y="2826690"/>
            <a:ext cx="0" cy="381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0BD4466-8B44-7A74-EF0E-86D024196522}"/>
              </a:ext>
            </a:extLst>
          </p:cNvPr>
          <p:cNvCxnSpPr/>
          <p:nvPr/>
        </p:nvCxnSpPr>
        <p:spPr>
          <a:xfrm flipH="1">
            <a:off x="5557518" y="3789632"/>
            <a:ext cx="1" cy="356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73D7EFD-DC74-2ED7-155D-B3DB15273E96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557519" y="4925998"/>
            <a:ext cx="1" cy="302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19EDFC-8E93-70B4-5CBB-C1AFB141E750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9666872" y="2796838"/>
            <a:ext cx="5443" cy="240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39D2A28-A0EE-0B3C-69B0-048F8C870938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9661430" y="1971620"/>
            <a:ext cx="5442" cy="248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35981F7-1B92-28BF-E823-ADC9CE069178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9672315" y="3614516"/>
            <a:ext cx="2" cy="297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1E1FC32-0D29-62FB-39CA-E2E8389C6CCD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9672317" y="5228211"/>
            <a:ext cx="5442" cy="265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F9B6453-4546-21BB-6051-774784ED059A}"/>
              </a:ext>
            </a:extLst>
          </p:cNvPr>
          <p:cNvCxnSpPr>
            <a:cxnSpLocks/>
          </p:cNvCxnSpPr>
          <p:nvPr/>
        </p:nvCxnSpPr>
        <p:spPr>
          <a:xfrm>
            <a:off x="9666868" y="6029895"/>
            <a:ext cx="5444" cy="240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78CFF6B-DBFF-6EF3-9148-B09A7CBA89D1}"/>
              </a:ext>
            </a:extLst>
          </p:cNvPr>
          <p:cNvSpPr txBox="1"/>
          <p:nvPr/>
        </p:nvSpPr>
        <p:spPr>
          <a:xfrm>
            <a:off x="3772261" y="5660569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639B1-B47E-D622-8C05-4AACADDB318B}"/>
              </a:ext>
            </a:extLst>
          </p:cNvPr>
          <p:cNvSpPr txBox="1"/>
          <p:nvPr/>
        </p:nvSpPr>
        <p:spPr>
          <a:xfrm>
            <a:off x="7604026" y="488768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6B8E03D-15D3-83C5-C28D-5B34B6B5132C}"/>
              </a:ext>
            </a:extLst>
          </p:cNvPr>
          <p:cNvCxnSpPr>
            <a:cxnSpLocks/>
            <a:stCxn id="12" idx="3"/>
            <a:endCxn id="16" idx="3"/>
          </p:cNvCxnSpPr>
          <p:nvPr/>
        </p:nvCxnSpPr>
        <p:spPr>
          <a:xfrm flipH="1">
            <a:off x="10276472" y="4570159"/>
            <a:ext cx="713016" cy="1941317"/>
          </a:xfrm>
          <a:prstGeom prst="bentConnector3">
            <a:avLst>
              <a:gd name="adj1" fmla="val -4732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F0804CB-7A9E-DF1B-7205-C7F036CC1C92}"/>
              </a:ext>
            </a:extLst>
          </p:cNvPr>
          <p:cNvSpPr txBox="1"/>
          <p:nvPr/>
        </p:nvSpPr>
        <p:spPr>
          <a:xfrm>
            <a:off x="11272505" y="492034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35576E-0B5D-BE88-8319-778E72F4C68C}"/>
              </a:ext>
            </a:extLst>
          </p:cNvPr>
          <p:cNvSpPr txBox="1"/>
          <p:nvPr/>
        </p:nvSpPr>
        <p:spPr>
          <a:xfrm>
            <a:off x="9628765" y="5148944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BEFD0B-25DE-8DBF-623F-6170F49AC5B1}"/>
              </a:ext>
            </a:extLst>
          </p:cNvPr>
          <p:cNvSpPr txBox="1"/>
          <p:nvPr/>
        </p:nvSpPr>
        <p:spPr>
          <a:xfrm>
            <a:off x="157480" y="1681001"/>
            <a:ext cx="355563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Mission Planning commands:</a:t>
            </a: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www.ardupilot.org/planner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Python programming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Ground clearance: 450-800 m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take-off</a:t>
            </a: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LoRa Setup</a:t>
            </a: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Load waypoints of different glacial lakes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4CA8F93-2D71-55EB-8323-39D5B34D196A}"/>
              </a:ext>
            </a:extLst>
          </p:cNvPr>
          <p:cNvSpPr/>
          <p:nvPr/>
        </p:nvSpPr>
        <p:spPr>
          <a:xfrm>
            <a:off x="146595" y="1495997"/>
            <a:ext cx="4082866" cy="745670"/>
          </a:xfrm>
          <a:custGeom>
            <a:avLst/>
            <a:gdLst>
              <a:gd name="connsiteX0" fmla="*/ 0 w 3102429"/>
              <a:gd name="connsiteY0" fmla="*/ 134722 h 679008"/>
              <a:gd name="connsiteX1" fmla="*/ 1763486 w 3102429"/>
              <a:gd name="connsiteY1" fmla="*/ 36751 h 679008"/>
              <a:gd name="connsiteX2" fmla="*/ 3102429 w 3102429"/>
              <a:gd name="connsiteY2" fmla="*/ 679008 h 679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2429" h="679008">
                <a:moveTo>
                  <a:pt x="0" y="134722"/>
                </a:moveTo>
                <a:cubicBezTo>
                  <a:pt x="623207" y="40379"/>
                  <a:pt x="1246414" y="-53963"/>
                  <a:pt x="1763486" y="36751"/>
                </a:cubicBezTo>
                <a:cubicBezTo>
                  <a:pt x="2280558" y="127465"/>
                  <a:pt x="2691493" y="403236"/>
                  <a:pt x="3102429" y="679008"/>
                </a:cubicBezTo>
              </a:path>
            </a:pathLst>
          </a:custGeom>
          <a:solidFill>
            <a:srgbClr val="A7E8FF">
              <a:alpha val="2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20B18B1-AFC2-7A51-DEC9-01FC07A1731A}"/>
              </a:ext>
            </a:extLst>
          </p:cNvPr>
          <p:cNvSpPr/>
          <p:nvPr/>
        </p:nvSpPr>
        <p:spPr>
          <a:xfrm>
            <a:off x="146596" y="2841171"/>
            <a:ext cx="4017554" cy="728551"/>
          </a:xfrm>
          <a:custGeom>
            <a:avLst/>
            <a:gdLst>
              <a:gd name="connsiteX0" fmla="*/ 2906486 w 2906486"/>
              <a:gd name="connsiteY0" fmla="*/ 0 h 747393"/>
              <a:gd name="connsiteX1" fmla="*/ 2209800 w 2906486"/>
              <a:gd name="connsiteY1" fmla="*/ 674915 h 747393"/>
              <a:gd name="connsiteX2" fmla="*/ 0 w 2906486"/>
              <a:gd name="connsiteY2" fmla="*/ 696686 h 747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06486" h="747393">
                <a:moveTo>
                  <a:pt x="2906486" y="0"/>
                </a:moveTo>
                <a:cubicBezTo>
                  <a:pt x="2800350" y="279400"/>
                  <a:pt x="2694214" y="558801"/>
                  <a:pt x="2209800" y="674915"/>
                </a:cubicBezTo>
                <a:cubicBezTo>
                  <a:pt x="1725386" y="791029"/>
                  <a:pt x="862693" y="743857"/>
                  <a:pt x="0" y="696686"/>
                </a:cubicBezTo>
              </a:path>
            </a:pathLst>
          </a:custGeom>
          <a:solidFill>
            <a:srgbClr val="A7E8FF">
              <a:alpha val="2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71B060-DD98-7D90-6E1F-59E31198804F}"/>
              </a:ext>
            </a:extLst>
          </p:cNvPr>
          <p:cNvSpPr txBox="1"/>
          <p:nvPr/>
        </p:nvSpPr>
        <p:spPr>
          <a:xfrm>
            <a:off x="670560" y="4008366"/>
            <a:ext cx="2930431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store and transmission: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Co-ordinate of each image from GNSS receiver stored and sent (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www.rtklib.com/rtklib.htm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Camera triggering in each 60 m distance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2376D7B-1C9A-1B75-3EE9-BD640ED689DA}"/>
              </a:ext>
            </a:extLst>
          </p:cNvPr>
          <p:cNvSpPr/>
          <p:nvPr/>
        </p:nvSpPr>
        <p:spPr>
          <a:xfrm>
            <a:off x="670560" y="3822588"/>
            <a:ext cx="3526246" cy="303097"/>
          </a:xfrm>
          <a:custGeom>
            <a:avLst/>
            <a:gdLst>
              <a:gd name="connsiteX0" fmla="*/ 3145972 w 3145972"/>
              <a:gd name="connsiteY0" fmla="*/ 329854 h 329854"/>
              <a:gd name="connsiteX1" fmla="*/ 1828800 w 3145972"/>
              <a:gd name="connsiteY1" fmla="*/ 46825 h 329854"/>
              <a:gd name="connsiteX2" fmla="*/ 0 w 3145972"/>
              <a:gd name="connsiteY2" fmla="*/ 3282 h 329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45972" h="329854">
                <a:moveTo>
                  <a:pt x="3145972" y="329854"/>
                </a:moveTo>
                <a:cubicBezTo>
                  <a:pt x="2749550" y="215554"/>
                  <a:pt x="2353129" y="101254"/>
                  <a:pt x="1828800" y="46825"/>
                </a:cubicBezTo>
                <a:cubicBezTo>
                  <a:pt x="1304471" y="-7604"/>
                  <a:pt x="652235" y="-2161"/>
                  <a:pt x="0" y="3282"/>
                </a:cubicBezTo>
              </a:path>
            </a:pathLst>
          </a:custGeom>
          <a:solidFill>
            <a:srgbClr val="A7E8FF">
              <a:alpha val="2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9C8D876-D49A-B6B7-CD0C-168B9AD8446E}"/>
              </a:ext>
            </a:extLst>
          </p:cNvPr>
          <p:cNvSpPr/>
          <p:nvPr/>
        </p:nvSpPr>
        <p:spPr>
          <a:xfrm>
            <a:off x="670560" y="4920343"/>
            <a:ext cx="3852818" cy="740226"/>
          </a:xfrm>
          <a:custGeom>
            <a:avLst/>
            <a:gdLst>
              <a:gd name="connsiteX0" fmla="*/ 3461657 w 3461657"/>
              <a:gd name="connsiteY0" fmla="*/ 0 h 700200"/>
              <a:gd name="connsiteX1" fmla="*/ 2209800 w 3461657"/>
              <a:gd name="connsiteY1" fmla="*/ 609600 h 700200"/>
              <a:gd name="connsiteX2" fmla="*/ 0 w 3461657"/>
              <a:gd name="connsiteY2" fmla="*/ 685800 h 7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657" h="700200">
                <a:moveTo>
                  <a:pt x="3461657" y="0"/>
                </a:moveTo>
                <a:cubicBezTo>
                  <a:pt x="3124200" y="247650"/>
                  <a:pt x="2786743" y="495300"/>
                  <a:pt x="2209800" y="609600"/>
                </a:cubicBezTo>
                <a:cubicBezTo>
                  <a:pt x="1632857" y="723900"/>
                  <a:pt x="816428" y="704850"/>
                  <a:pt x="0" y="685800"/>
                </a:cubicBezTo>
              </a:path>
            </a:pathLst>
          </a:custGeom>
          <a:solidFill>
            <a:srgbClr val="A7E8FF">
              <a:alpha val="2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27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A5439-E394-3145-3F0A-7663336C1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982"/>
            <a:ext cx="10515600" cy="108267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Configuration and Communication</a:t>
            </a:r>
          </a:p>
        </p:txBody>
      </p:sp>
      <p:sp>
        <p:nvSpPr>
          <p:cNvPr id="55" name="Rounded Rectangle 3">
            <a:extLst>
              <a:ext uri="{FF2B5EF4-FFF2-40B4-BE49-F238E27FC236}">
                <a16:creationId xmlns:a16="http://schemas.microsoft.com/office/drawing/2014/main" id="{8FD811B5-C160-1EA2-4210-96F5E0548D19}"/>
              </a:ext>
            </a:extLst>
          </p:cNvPr>
          <p:cNvSpPr/>
          <p:nvPr/>
        </p:nvSpPr>
        <p:spPr>
          <a:xfrm>
            <a:off x="6112722" y="2702259"/>
            <a:ext cx="1856096" cy="3660855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56" name="Rounded Rectangle 4">
            <a:extLst>
              <a:ext uri="{FF2B5EF4-FFF2-40B4-BE49-F238E27FC236}">
                <a16:creationId xmlns:a16="http://schemas.microsoft.com/office/drawing/2014/main" id="{A580774B-8F72-1904-4DAF-EEA226773C21}"/>
              </a:ext>
            </a:extLst>
          </p:cNvPr>
          <p:cNvSpPr/>
          <p:nvPr/>
        </p:nvSpPr>
        <p:spPr>
          <a:xfrm>
            <a:off x="8664304" y="1445025"/>
            <a:ext cx="1856096" cy="1103194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57" name="Rounded Rectangle 5">
            <a:extLst>
              <a:ext uri="{FF2B5EF4-FFF2-40B4-BE49-F238E27FC236}">
                <a16:creationId xmlns:a16="http://schemas.microsoft.com/office/drawing/2014/main" id="{963D4056-472A-01F2-2BED-23DCDE527064}"/>
              </a:ext>
            </a:extLst>
          </p:cNvPr>
          <p:cNvSpPr/>
          <p:nvPr/>
        </p:nvSpPr>
        <p:spPr>
          <a:xfrm>
            <a:off x="8162261" y="2873010"/>
            <a:ext cx="2964887" cy="1435646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58" name="Rounded Rectangle 6">
            <a:extLst>
              <a:ext uri="{FF2B5EF4-FFF2-40B4-BE49-F238E27FC236}">
                <a16:creationId xmlns:a16="http://schemas.microsoft.com/office/drawing/2014/main" id="{2961DEF8-AB04-B21B-A537-91E53E41B66E}"/>
              </a:ext>
            </a:extLst>
          </p:cNvPr>
          <p:cNvSpPr/>
          <p:nvPr/>
        </p:nvSpPr>
        <p:spPr>
          <a:xfrm>
            <a:off x="8490128" y="4492050"/>
            <a:ext cx="1856096" cy="764610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D7F1116F-9912-88D1-930B-6FED7006F0E8}"/>
              </a:ext>
            </a:extLst>
          </p:cNvPr>
          <p:cNvSpPr/>
          <p:nvPr/>
        </p:nvSpPr>
        <p:spPr>
          <a:xfrm>
            <a:off x="8490127" y="5325064"/>
            <a:ext cx="2863673" cy="931289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60" name="Rounded Rectangle 8">
            <a:extLst>
              <a:ext uri="{FF2B5EF4-FFF2-40B4-BE49-F238E27FC236}">
                <a16:creationId xmlns:a16="http://schemas.microsoft.com/office/drawing/2014/main" id="{1594A231-30C3-0BE2-E209-C15F4AB21AE5}"/>
              </a:ext>
            </a:extLst>
          </p:cNvPr>
          <p:cNvSpPr/>
          <p:nvPr/>
        </p:nvSpPr>
        <p:spPr>
          <a:xfrm>
            <a:off x="3708243" y="1567857"/>
            <a:ext cx="2064477" cy="1489242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61" name="Rounded Rectangle 9">
            <a:extLst>
              <a:ext uri="{FF2B5EF4-FFF2-40B4-BE49-F238E27FC236}">
                <a16:creationId xmlns:a16="http://schemas.microsoft.com/office/drawing/2014/main" id="{50DD885C-8D46-3A41-D664-7EA193C670C6}"/>
              </a:ext>
            </a:extLst>
          </p:cNvPr>
          <p:cNvSpPr/>
          <p:nvPr/>
        </p:nvSpPr>
        <p:spPr>
          <a:xfrm>
            <a:off x="3763452" y="3354911"/>
            <a:ext cx="1856096" cy="1519788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62" name="Rounded Rectangle 10">
            <a:extLst>
              <a:ext uri="{FF2B5EF4-FFF2-40B4-BE49-F238E27FC236}">
                <a16:creationId xmlns:a16="http://schemas.microsoft.com/office/drawing/2014/main" id="{1502F14E-E091-7085-1230-A49DEC0583C4}"/>
              </a:ext>
            </a:extLst>
          </p:cNvPr>
          <p:cNvSpPr/>
          <p:nvPr/>
        </p:nvSpPr>
        <p:spPr>
          <a:xfrm>
            <a:off x="3763452" y="5208673"/>
            <a:ext cx="1856096" cy="1292662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63" name="Rounded Rectangle 11">
            <a:extLst>
              <a:ext uri="{FF2B5EF4-FFF2-40B4-BE49-F238E27FC236}">
                <a16:creationId xmlns:a16="http://schemas.microsoft.com/office/drawing/2014/main" id="{4964B706-0B00-BA71-411D-558A0EE6AC66}"/>
              </a:ext>
            </a:extLst>
          </p:cNvPr>
          <p:cNvSpPr/>
          <p:nvPr/>
        </p:nvSpPr>
        <p:spPr>
          <a:xfrm>
            <a:off x="5846560" y="1420824"/>
            <a:ext cx="2643567" cy="981182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D6818D-31CD-89E9-6978-F6ADD35F595E}"/>
              </a:ext>
            </a:extLst>
          </p:cNvPr>
          <p:cNvSpPr txBox="1"/>
          <p:nvPr/>
        </p:nvSpPr>
        <p:spPr>
          <a:xfrm>
            <a:off x="3726475" y="1553992"/>
            <a:ext cx="2083125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and Controller module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drone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 controller for smooth flight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EBA3A0-A9EE-4BCF-CD91-9CDC5228F30B}"/>
              </a:ext>
            </a:extLst>
          </p:cNvPr>
          <p:cNvSpPr txBox="1"/>
          <p:nvPr/>
        </p:nvSpPr>
        <p:spPr>
          <a:xfrm>
            <a:off x="3900416" y="3362627"/>
            <a:ext cx="1569493" cy="14157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module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16Ah Li-Ion batteries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2-3 hour and 200 km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F15FE2-B91B-AB6F-9330-E3B6FC43C875}"/>
              </a:ext>
            </a:extLst>
          </p:cNvPr>
          <p:cNvSpPr txBox="1"/>
          <p:nvPr/>
        </p:nvSpPr>
        <p:spPr>
          <a:xfrm>
            <a:off x="8803508" y="4569022"/>
            <a:ext cx="125559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7172B2-50BE-7451-853B-5E0A74A2759C}"/>
              </a:ext>
            </a:extLst>
          </p:cNvPr>
          <p:cNvSpPr txBox="1"/>
          <p:nvPr/>
        </p:nvSpPr>
        <p:spPr>
          <a:xfrm>
            <a:off x="6138163" y="2695922"/>
            <a:ext cx="1850803" cy="37856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Pixhawk autopilot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all components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enabled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the airplane as per instruction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(https://pixhawk.org/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543223D-BD66-48F8-F1BA-55284320C5A8}"/>
              </a:ext>
            </a:extLst>
          </p:cNvPr>
          <p:cNvSpPr/>
          <p:nvPr/>
        </p:nvSpPr>
        <p:spPr>
          <a:xfrm>
            <a:off x="8681284" y="1804246"/>
            <a:ext cx="182213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Airspeed Sensor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025AE0-702C-306B-4E1B-93CF6E806073}"/>
              </a:ext>
            </a:extLst>
          </p:cNvPr>
          <p:cNvSpPr/>
          <p:nvPr/>
        </p:nvSpPr>
        <p:spPr>
          <a:xfrm>
            <a:off x="8274019" y="2840177"/>
            <a:ext cx="2755298" cy="14157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Telemetry module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drone remotely (Drone’s altitude, battery)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Range: 10-12 Km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LoRa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EAB479E-39A4-2D73-AC43-9AD39AA0644B}"/>
              </a:ext>
            </a:extLst>
          </p:cNvPr>
          <p:cNvSpPr/>
          <p:nvPr/>
        </p:nvSpPr>
        <p:spPr>
          <a:xfrm>
            <a:off x="3772781" y="5193220"/>
            <a:ext cx="1845820" cy="1292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module</a:t>
            </a:r>
          </a:p>
          <a:p>
            <a:pPr marL="285750" indent="-285750">
              <a:buFontTx/>
              <a:buChar char="-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MP, 4K, 1/4000 s shutter speed</a:t>
            </a:r>
          </a:p>
          <a:p>
            <a:pPr marL="285750" indent="-285750">
              <a:buFontTx/>
              <a:buChar char="-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pixel= 15-20 cm</a:t>
            </a:r>
          </a:p>
          <a:p>
            <a:pPr marL="285750" indent="-285750">
              <a:buFontTx/>
              <a:buChar char="-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triggered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E38D6E3-02C3-2B8D-EEA0-1D438431A72B}"/>
              </a:ext>
            </a:extLst>
          </p:cNvPr>
          <p:cNvSpPr/>
          <p:nvPr/>
        </p:nvSpPr>
        <p:spPr>
          <a:xfrm>
            <a:off x="8568540" y="5314008"/>
            <a:ext cx="2863673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module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safe distance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during landing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5925D8F-C393-0ACA-6CE1-6AA5D8E2642E}"/>
              </a:ext>
            </a:extLst>
          </p:cNvPr>
          <p:cNvSpPr/>
          <p:nvPr/>
        </p:nvSpPr>
        <p:spPr>
          <a:xfrm>
            <a:off x="5865777" y="1477146"/>
            <a:ext cx="2600299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control module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Range: 1-2 km</a:t>
            </a:r>
          </a:p>
          <a:p>
            <a:pPr marL="285750" indent="-285750"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operation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5981216-672C-E38B-B543-0A90DA433207}"/>
              </a:ext>
            </a:extLst>
          </p:cNvPr>
          <p:cNvCxnSpPr/>
          <p:nvPr/>
        </p:nvCxnSpPr>
        <p:spPr>
          <a:xfrm>
            <a:off x="6615839" y="2402006"/>
            <a:ext cx="0" cy="300253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4491B0C-F81E-1433-2BF5-43C1B570231B}"/>
              </a:ext>
            </a:extLst>
          </p:cNvPr>
          <p:cNvCxnSpPr/>
          <p:nvPr/>
        </p:nvCxnSpPr>
        <p:spPr>
          <a:xfrm>
            <a:off x="7485690" y="2399663"/>
            <a:ext cx="0" cy="300253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25">
            <a:extLst>
              <a:ext uri="{FF2B5EF4-FFF2-40B4-BE49-F238E27FC236}">
                <a16:creationId xmlns:a16="http://schemas.microsoft.com/office/drawing/2014/main" id="{8DC305E0-E638-05B2-95A6-E6C6FC3C675D}"/>
              </a:ext>
            </a:extLst>
          </p:cNvPr>
          <p:cNvCxnSpPr>
            <a:cxnSpLocks/>
          </p:cNvCxnSpPr>
          <p:nvPr/>
        </p:nvCxnSpPr>
        <p:spPr>
          <a:xfrm>
            <a:off x="5745989" y="2721609"/>
            <a:ext cx="378527" cy="342878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CD68D60-3C37-C8C3-CE63-B65EEB687112}"/>
              </a:ext>
            </a:extLst>
          </p:cNvPr>
          <p:cNvCxnSpPr>
            <a:cxnSpLocks/>
            <a:endCxn id="61" idx="0"/>
          </p:cNvCxnSpPr>
          <p:nvPr/>
        </p:nvCxnSpPr>
        <p:spPr>
          <a:xfrm>
            <a:off x="4691500" y="3057099"/>
            <a:ext cx="0" cy="297812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603D0FC-E2AF-1D08-20B1-6DCC5DAAE437}"/>
              </a:ext>
            </a:extLst>
          </p:cNvPr>
          <p:cNvSpPr txBox="1"/>
          <p:nvPr/>
        </p:nvSpPr>
        <p:spPr>
          <a:xfrm>
            <a:off x="4816653" y="3070237"/>
            <a:ext cx="4510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2103F8C-CF4D-DC23-8B6A-603A1F786230}"/>
              </a:ext>
            </a:extLst>
          </p:cNvPr>
          <p:cNvCxnSpPr>
            <a:stCxn id="61" idx="3"/>
          </p:cNvCxnSpPr>
          <p:nvPr/>
        </p:nvCxnSpPr>
        <p:spPr>
          <a:xfrm>
            <a:off x="5619548" y="4114805"/>
            <a:ext cx="504968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D503B27-EDB9-840E-10D4-4C85958BE6A8}"/>
              </a:ext>
            </a:extLst>
          </p:cNvPr>
          <p:cNvSpPr txBox="1"/>
          <p:nvPr/>
        </p:nvSpPr>
        <p:spPr>
          <a:xfrm>
            <a:off x="5605968" y="3798394"/>
            <a:ext cx="52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432191E-63AC-110E-13D0-6A904747A4CC}"/>
              </a:ext>
            </a:extLst>
          </p:cNvPr>
          <p:cNvSpPr txBox="1"/>
          <p:nvPr/>
        </p:nvSpPr>
        <p:spPr>
          <a:xfrm>
            <a:off x="4738962" y="4940015"/>
            <a:ext cx="50879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 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5514EDD-7316-16DC-4E33-3F3647EDB869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>
            <a:off x="4691500" y="4874699"/>
            <a:ext cx="0" cy="333974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4FB257B-7B4D-F065-6758-DC0A5445CA3F}"/>
              </a:ext>
            </a:extLst>
          </p:cNvPr>
          <p:cNvCxnSpPr/>
          <p:nvPr/>
        </p:nvCxnSpPr>
        <p:spPr>
          <a:xfrm>
            <a:off x="7978758" y="4705063"/>
            <a:ext cx="4977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65">
            <a:extLst>
              <a:ext uri="{FF2B5EF4-FFF2-40B4-BE49-F238E27FC236}">
                <a16:creationId xmlns:a16="http://schemas.microsoft.com/office/drawing/2014/main" id="{156B7F89-161E-43D3-1375-A7435656A514}"/>
              </a:ext>
            </a:extLst>
          </p:cNvPr>
          <p:cNvCxnSpPr>
            <a:cxnSpLocks/>
            <a:stCxn id="62" idx="2"/>
            <a:endCxn id="58" idx="3"/>
          </p:cNvCxnSpPr>
          <p:nvPr/>
        </p:nvCxnSpPr>
        <p:spPr>
          <a:xfrm rot="5400000" flipH="1" flipV="1">
            <a:off x="6705372" y="2860483"/>
            <a:ext cx="1626980" cy="5654724"/>
          </a:xfrm>
          <a:prstGeom prst="bentConnector4">
            <a:avLst>
              <a:gd name="adj1" fmla="val -5353"/>
              <a:gd name="adj2" fmla="val 121176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E9E5332-97D6-B18E-C06A-82B30BD862B3}"/>
              </a:ext>
            </a:extLst>
          </p:cNvPr>
          <p:cNvCxnSpPr/>
          <p:nvPr/>
        </p:nvCxnSpPr>
        <p:spPr>
          <a:xfrm>
            <a:off x="5619616" y="5770235"/>
            <a:ext cx="4977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D0E0341-C624-FE31-D3D9-F17C2D4C4EFF}"/>
              </a:ext>
            </a:extLst>
          </p:cNvPr>
          <p:cNvCxnSpPr/>
          <p:nvPr/>
        </p:nvCxnSpPr>
        <p:spPr>
          <a:xfrm>
            <a:off x="7982090" y="5935636"/>
            <a:ext cx="4977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EE4DBD4-E5D5-82F8-9781-1879E71AC2C4}"/>
              </a:ext>
            </a:extLst>
          </p:cNvPr>
          <p:cNvCxnSpPr>
            <a:cxnSpLocks/>
          </p:cNvCxnSpPr>
          <p:nvPr/>
        </p:nvCxnSpPr>
        <p:spPr>
          <a:xfrm>
            <a:off x="7968818" y="3617456"/>
            <a:ext cx="193443" cy="603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75">
            <a:extLst>
              <a:ext uri="{FF2B5EF4-FFF2-40B4-BE49-F238E27FC236}">
                <a16:creationId xmlns:a16="http://schemas.microsoft.com/office/drawing/2014/main" id="{531E53DF-22A1-8226-FBD4-9672014FEC64}"/>
              </a:ext>
            </a:extLst>
          </p:cNvPr>
          <p:cNvCxnSpPr/>
          <p:nvPr/>
        </p:nvCxnSpPr>
        <p:spPr>
          <a:xfrm rot="5400000">
            <a:off x="8521251" y="1797388"/>
            <a:ext cx="173390" cy="1675052"/>
          </a:xfrm>
          <a:prstGeom prst="bentConnector2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6DA95623-68F3-F1D1-7A80-D15E1B5EDF81}"/>
              </a:ext>
            </a:extLst>
          </p:cNvPr>
          <p:cNvSpPr/>
          <p:nvPr/>
        </p:nvSpPr>
        <p:spPr>
          <a:xfrm>
            <a:off x="377263" y="3007705"/>
            <a:ext cx="2591441" cy="950974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1AB5201-825C-DD9C-B8B3-C5031C671E29}"/>
              </a:ext>
            </a:extLst>
          </p:cNvPr>
          <p:cNvSpPr txBox="1"/>
          <p:nvPr/>
        </p:nvSpPr>
        <p:spPr>
          <a:xfrm>
            <a:off x="490475" y="2995525"/>
            <a:ext cx="2620919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4G/5G modem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SIM card enabled and provide internet to drone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ounded Rectangle 2">
            <a:extLst>
              <a:ext uri="{FF2B5EF4-FFF2-40B4-BE49-F238E27FC236}">
                <a16:creationId xmlns:a16="http://schemas.microsoft.com/office/drawing/2014/main" id="{887E1D71-3655-E95F-2423-9DA977F36446}"/>
              </a:ext>
            </a:extLst>
          </p:cNvPr>
          <p:cNvSpPr/>
          <p:nvPr/>
        </p:nvSpPr>
        <p:spPr>
          <a:xfrm>
            <a:off x="278834" y="4305082"/>
            <a:ext cx="2464149" cy="1297982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6403603-BD75-B1A1-E239-827E417D3027}"/>
              </a:ext>
            </a:extLst>
          </p:cNvPr>
          <p:cNvSpPr txBox="1"/>
          <p:nvPr/>
        </p:nvSpPr>
        <p:spPr>
          <a:xfrm>
            <a:off x="198429" y="4260105"/>
            <a:ext cx="26861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Jetson Nano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computer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images to send to ground server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EC310C3-BFF1-1822-95B7-3798DD34815F}"/>
              </a:ext>
            </a:extLst>
          </p:cNvPr>
          <p:cNvSpPr/>
          <p:nvPr/>
        </p:nvSpPr>
        <p:spPr>
          <a:xfrm>
            <a:off x="3656546" y="1087764"/>
            <a:ext cx="8413534" cy="5650662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48322D8-0FC0-CB25-0C80-3C36C3B04841}"/>
              </a:ext>
            </a:extLst>
          </p:cNvPr>
          <p:cNvSpPr txBox="1"/>
          <p:nvPr/>
        </p:nvSpPr>
        <p:spPr>
          <a:xfrm>
            <a:off x="10555815" y="4206637"/>
            <a:ext cx="136456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Drone</a:t>
            </a:r>
            <a:endParaRPr lang="en-IN" sz="32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E97DBD1-2F42-9B9E-F71B-E6D786D5D678}"/>
              </a:ext>
            </a:extLst>
          </p:cNvPr>
          <p:cNvCxnSpPr>
            <a:cxnSpLocks/>
            <a:stCxn id="88" idx="2"/>
          </p:cNvCxnSpPr>
          <p:nvPr/>
        </p:nvCxnSpPr>
        <p:spPr>
          <a:xfrm>
            <a:off x="1672984" y="3958679"/>
            <a:ext cx="0" cy="349977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11251AAA-B4A1-B1E1-D1BB-4EBED1CB643A}"/>
              </a:ext>
            </a:extLst>
          </p:cNvPr>
          <p:cNvSpPr txBox="1"/>
          <p:nvPr/>
        </p:nvSpPr>
        <p:spPr>
          <a:xfrm>
            <a:off x="3095571" y="5674431"/>
            <a:ext cx="64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Rounded Rectangle 55">
            <a:extLst>
              <a:ext uri="{FF2B5EF4-FFF2-40B4-BE49-F238E27FC236}">
                <a16:creationId xmlns:a16="http://schemas.microsoft.com/office/drawing/2014/main" id="{02F5CFD7-FA7E-119F-9C30-F4DF521CE162}"/>
              </a:ext>
            </a:extLst>
          </p:cNvPr>
          <p:cNvSpPr/>
          <p:nvPr/>
        </p:nvSpPr>
        <p:spPr>
          <a:xfrm>
            <a:off x="426132" y="1903555"/>
            <a:ext cx="2571578" cy="721248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7559D96-5D6A-529E-F7DE-0AB43E77B140}"/>
              </a:ext>
            </a:extLst>
          </p:cNvPr>
          <p:cNvSpPr txBox="1"/>
          <p:nvPr/>
        </p:nvSpPr>
        <p:spPr>
          <a:xfrm>
            <a:off x="307698" y="2092072"/>
            <a:ext cx="27700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station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864A4D2-075A-0E5D-563C-D83E23065ACC}"/>
              </a:ext>
            </a:extLst>
          </p:cNvPr>
          <p:cNvCxnSpPr>
            <a:cxnSpLocks/>
          </p:cNvCxnSpPr>
          <p:nvPr/>
        </p:nvCxnSpPr>
        <p:spPr>
          <a:xfrm>
            <a:off x="1579841" y="2624803"/>
            <a:ext cx="0" cy="370722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2BEB0B0-9BD6-5932-1A28-9295C8525DCC}"/>
              </a:ext>
            </a:extLst>
          </p:cNvPr>
          <p:cNvSpPr txBox="1"/>
          <p:nvPr/>
        </p:nvSpPr>
        <p:spPr>
          <a:xfrm>
            <a:off x="1701689" y="2673657"/>
            <a:ext cx="11547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Elbow Connector 52">
            <a:extLst>
              <a:ext uri="{FF2B5EF4-FFF2-40B4-BE49-F238E27FC236}">
                <a16:creationId xmlns:a16="http://schemas.microsoft.com/office/drawing/2014/main" id="{C9C862B5-CA2B-D6AD-1803-F6E6E53EB234}"/>
              </a:ext>
            </a:extLst>
          </p:cNvPr>
          <p:cNvCxnSpPr>
            <a:cxnSpLocks/>
            <a:stCxn id="97" idx="0"/>
            <a:endCxn id="57" idx="3"/>
          </p:cNvCxnSpPr>
          <p:nvPr/>
        </p:nvCxnSpPr>
        <p:spPr>
          <a:xfrm rot="16200000" flipH="1">
            <a:off x="5575895" y="-1960419"/>
            <a:ext cx="1687278" cy="9415227"/>
          </a:xfrm>
          <a:prstGeom prst="bentConnector4">
            <a:avLst>
              <a:gd name="adj1" fmla="val -37634"/>
              <a:gd name="adj2" fmla="val 102428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1845685-C015-37FB-47A4-8BF9A0A73A57}"/>
              </a:ext>
            </a:extLst>
          </p:cNvPr>
          <p:cNvSpPr/>
          <p:nvPr/>
        </p:nvSpPr>
        <p:spPr>
          <a:xfrm>
            <a:off x="138733" y="1120334"/>
            <a:ext cx="2996503" cy="5449278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3C9FC01-8704-25F4-A5BF-E5F928374F0B}"/>
              </a:ext>
            </a:extLst>
          </p:cNvPr>
          <p:cNvSpPr txBox="1"/>
          <p:nvPr/>
        </p:nvSpPr>
        <p:spPr>
          <a:xfrm>
            <a:off x="278834" y="5963526"/>
            <a:ext cx="264344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8875686-A7AB-19F4-4100-F31CF362D641}"/>
              </a:ext>
            </a:extLst>
          </p:cNvPr>
          <p:cNvSpPr txBox="1"/>
          <p:nvPr/>
        </p:nvSpPr>
        <p:spPr>
          <a:xfrm>
            <a:off x="82074" y="1220526"/>
            <a:ext cx="170586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communication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2EA8D6F-1010-AC56-905C-2AC192137B8C}"/>
              </a:ext>
            </a:extLst>
          </p:cNvPr>
          <p:cNvSpPr txBox="1"/>
          <p:nvPr/>
        </p:nvSpPr>
        <p:spPr>
          <a:xfrm>
            <a:off x="1636984" y="3972235"/>
            <a:ext cx="64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519D363B-40BF-3E95-E95F-6E9B9CF925E4}"/>
              </a:ext>
            </a:extLst>
          </p:cNvPr>
          <p:cNvCxnSpPr>
            <a:cxnSpLocks/>
          </p:cNvCxnSpPr>
          <p:nvPr/>
        </p:nvCxnSpPr>
        <p:spPr>
          <a:xfrm>
            <a:off x="2742983" y="4885242"/>
            <a:ext cx="1001807" cy="821457"/>
          </a:xfrm>
          <a:prstGeom prst="bentConnector3">
            <a:avLst>
              <a:gd name="adj1" fmla="val 6848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525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9DF0-8C4F-7011-B5C4-1F0326C89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496"/>
            <a:ext cx="10515600" cy="39534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System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59A702-0FA4-32FF-34C6-8A6F93D304D1}"/>
              </a:ext>
            </a:extLst>
          </p:cNvPr>
          <p:cNvSpPr/>
          <p:nvPr/>
        </p:nvSpPr>
        <p:spPr>
          <a:xfrm>
            <a:off x="1487715" y="5675381"/>
            <a:ext cx="2960914" cy="544830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Sentinel-2 and ResourceSat-2 (LISS-IV) data and image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700C00-7416-FF5B-C007-ADBE96E06C49}"/>
              </a:ext>
            </a:extLst>
          </p:cNvPr>
          <p:cNvSpPr/>
          <p:nvPr/>
        </p:nvSpPr>
        <p:spPr>
          <a:xfrm>
            <a:off x="5101768" y="5682209"/>
            <a:ext cx="3320145" cy="511756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Drone captured data and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9CB705-2240-19B0-0628-DB4610E3C0ED}"/>
              </a:ext>
            </a:extLst>
          </p:cNvPr>
          <p:cNvSpPr txBox="1"/>
          <p:nvPr/>
        </p:nvSpPr>
        <p:spPr>
          <a:xfrm>
            <a:off x="2565401" y="6259283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0C358-5F36-416D-7073-6152D7281736}"/>
              </a:ext>
            </a:extLst>
          </p:cNvPr>
          <p:cNvSpPr txBox="1"/>
          <p:nvPr/>
        </p:nvSpPr>
        <p:spPr>
          <a:xfrm>
            <a:off x="6201225" y="6193965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Instant/Live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BA0C47-92E9-74B9-CCC5-0DCC894E9C1C}"/>
              </a:ext>
            </a:extLst>
          </p:cNvPr>
          <p:cNvSpPr/>
          <p:nvPr/>
        </p:nvSpPr>
        <p:spPr>
          <a:xfrm>
            <a:off x="2467427" y="4848071"/>
            <a:ext cx="4920343" cy="54483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through ML/AI models (CNN, Random Forest, Support Vector Machine (SVM))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850B14-E850-0F2A-6E47-24B42F1B4D11}"/>
              </a:ext>
            </a:extLst>
          </p:cNvPr>
          <p:cNvSpPr/>
          <p:nvPr/>
        </p:nvSpPr>
        <p:spPr>
          <a:xfrm>
            <a:off x="486228" y="3465321"/>
            <a:ext cx="3341057" cy="10896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Glacial Morphometric Parameters: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Hypsometric Integral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Ice Compactness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Snout Index, etc.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01906E-2770-9A7C-549D-3843E98F50C5}"/>
              </a:ext>
            </a:extLst>
          </p:cNvPr>
          <p:cNvSpPr/>
          <p:nvPr/>
        </p:nvSpPr>
        <p:spPr>
          <a:xfrm>
            <a:off x="5275938" y="3443547"/>
            <a:ext cx="4223662" cy="10896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Glacial Lake Morphometric Parameters: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Shoreline Index, etc.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A2C85E-F9DD-CDFC-A829-AA1545D5FEC5}"/>
              </a:ext>
            </a:extLst>
          </p:cNvPr>
          <p:cNvSpPr/>
          <p:nvPr/>
        </p:nvSpPr>
        <p:spPr>
          <a:xfrm>
            <a:off x="2347678" y="2894228"/>
            <a:ext cx="4920343" cy="272415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Labelling Glacial Event According to Vulnerability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1936423-EECB-868A-D81C-0991641DB7EF}"/>
              </a:ext>
            </a:extLst>
          </p:cNvPr>
          <p:cNvSpPr/>
          <p:nvPr/>
        </p:nvSpPr>
        <p:spPr>
          <a:xfrm>
            <a:off x="2336792" y="2055459"/>
            <a:ext cx="4920343" cy="54483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Zone wise Vulnerability Detection in the Local Settlements Areas in One/More Districts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60C3DD-8DA8-74D2-5F12-2A4D1E51550B}"/>
              </a:ext>
            </a:extLst>
          </p:cNvPr>
          <p:cNvSpPr/>
          <p:nvPr/>
        </p:nvSpPr>
        <p:spPr>
          <a:xfrm>
            <a:off x="2336791" y="1500854"/>
            <a:ext cx="4920343" cy="272415"/>
          </a:xfrm>
          <a:prstGeom prst="roundRect">
            <a:avLst/>
          </a:prstGeom>
          <a:solidFill>
            <a:srgbClr val="92D050">
              <a:alpha val="80000"/>
            </a:srgb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Email to State and District Level Personnel Body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54AC3C-BD59-EF11-BAEC-47360C4BC8F8}"/>
              </a:ext>
            </a:extLst>
          </p:cNvPr>
          <p:cNvSpPr/>
          <p:nvPr/>
        </p:nvSpPr>
        <p:spPr>
          <a:xfrm>
            <a:off x="2325905" y="978331"/>
            <a:ext cx="4920343" cy="272415"/>
          </a:xfrm>
          <a:prstGeom prst="roundRect">
            <a:avLst/>
          </a:prstGeom>
          <a:solidFill>
            <a:srgbClr val="92D050">
              <a:alpha val="80000"/>
            </a:srgb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 SMS to Local People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20FF42E-CD56-A53D-118F-29869970693A}"/>
              </a:ext>
            </a:extLst>
          </p:cNvPr>
          <p:cNvCxnSpPr/>
          <p:nvPr/>
        </p:nvCxnSpPr>
        <p:spPr>
          <a:xfrm flipV="1">
            <a:off x="3556000" y="5392901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538245-918B-02BD-C3A6-8DE9DEBB6AFE}"/>
              </a:ext>
            </a:extLst>
          </p:cNvPr>
          <p:cNvCxnSpPr/>
          <p:nvPr/>
        </p:nvCxnSpPr>
        <p:spPr>
          <a:xfrm flipV="1">
            <a:off x="5765799" y="5392900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0D40DC-B618-EFAD-69FB-4912B4DA38B8}"/>
              </a:ext>
            </a:extLst>
          </p:cNvPr>
          <p:cNvCxnSpPr/>
          <p:nvPr/>
        </p:nvCxnSpPr>
        <p:spPr>
          <a:xfrm flipV="1">
            <a:off x="3272971" y="4554701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4BE0F2-49F2-DF91-F548-2A6B518791DA}"/>
              </a:ext>
            </a:extLst>
          </p:cNvPr>
          <p:cNvCxnSpPr/>
          <p:nvPr/>
        </p:nvCxnSpPr>
        <p:spPr>
          <a:xfrm flipV="1">
            <a:off x="6418943" y="4532931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23839C0-0A44-AEE0-4525-A294C5FEA60A}"/>
              </a:ext>
            </a:extLst>
          </p:cNvPr>
          <p:cNvCxnSpPr/>
          <p:nvPr/>
        </p:nvCxnSpPr>
        <p:spPr>
          <a:xfrm flipV="1">
            <a:off x="2902857" y="3161334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CF30332-43C6-A762-57E0-230FEB2FA193}"/>
              </a:ext>
            </a:extLst>
          </p:cNvPr>
          <p:cNvCxnSpPr/>
          <p:nvPr/>
        </p:nvCxnSpPr>
        <p:spPr>
          <a:xfrm flipV="1">
            <a:off x="5809342" y="3172216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E8FAD1-144D-2537-32A3-97F0B69651E3}"/>
              </a:ext>
            </a:extLst>
          </p:cNvPr>
          <p:cNvCxnSpPr/>
          <p:nvPr/>
        </p:nvCxnSpPr>
        <p:spPr>
          <a:xfrm flipV="1">
            <a:off x="4655457" y="2595276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8B5C18-6D38-EC42-E066-8471202E8F5B}"/>
              </a:ext>
            </a:extLst>
          </p:cNvPr>
          <p:cNvCxnSpPr/>
          <p:nvPr/>
        </p:nvCxnSpPr>
        <p:spPr>
          <a:xfrm flipV="1">
            <a:off x="4666344" y="1778847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6BF5621-33CE-4DC1-9420-7008F050FB58}"/>
              </a:ext>
            </a:extLst>
          </p:cNvPr>
          <p:cNvCxnSpPr/>
          <p:nvPr/>
        </p:nvCxnSpPr>
        <p:spPr>
          <a:xfrm flipV="1">
            <a:off x="4677230" y="1234559"/>
            <a:ext cx="0" cy="282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ight Brace 2">
            <a:extLst>
              <a:ext uri="{FF2B5EF4-FFF2-40B4-BE49-F238E27FC236}">
                <a16:creationId xmlns:a16="http://schemas.microsoft.com/office/drawing/2014/main" id="{37BDC2BC-4743-7D4A-2674-CEEF03B6A054}"/>
              </a:ext>
            </a:extLst>
          </p:cNvPr>
          <p:cNvSpPr/>
          <p:nvPr/>
        </p:nvSpPr>
        <p:spPr>
          <a:xfrm>
            <a:off x="9184640" y="5506720"/>
            <a:ext cx="412910" cy="97584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7E9BB5-CA58-E566-DA95-B5E371762D1F}"/>
              </a:ext>
            </a:extLst>
          </p:cNvPr>
          <p:cNvSpPr txBox="1"/>
          <p:nvPr/>
        </p:nvSpPr>
        <p:spPr>
          <a:xfrm>
            <a:off x="9398001" y="5641568"/>
            <a:ext cx="1457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35A64095-738C-E396-D3EA-76C674A17AF0}"/>
              </a:ext>
            </a:extLst>
          </p:cNvPr>
          <p:cNvSpPr/>
          <p:nvPr/>
        </p:nvSpPr>
        <p:spPr>
          <a:xfrm>
            <a:off x="9597550" y="3261360"/>
            <a:ext cx="696704" cy="213154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84E426-7B9A-8EE6-163D-14C831BEEC46}"/>
              </a:ext>
            </a:extLst>
          </p:cNvPr>
          <p:cNvSpPr txBox="1"/>
          <p:nvPr/>
        </p:nvSpPr>
        <p:spPr>
          <a:xfrm>
            <a:off x="10160000" y="3840480"/>
            <a:ext cx="1584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and Analysis `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B1260068-F74C-155C-136D-643BF4F54ED2}"/>
              </a:ext>
            </a:extLst>
          </p:cNvPr>
          <p:cNvSpPr/>
          <p:nvPr/>
        </p:nvSpPr>
        <p:spPr>
          <a:xfrm>
            <a:off x="8585200" y="2001520"/>
            <a:ext cx="406365" cy="1159814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D10D21-B510-B948-BDF8-9DC9728A069A}"/>
              </a:ext>
            </a:extLst>
          </p:cNvPr>
          <p:cNvSpPr txBox="1"/>
          <p:nvPr/>
        </p:nvSpPr>
        <p:spPr>
          <a:xfrm>
            <a:off x="8879839" y="2255520"/>
            <a:ext cx="2122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Creation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8DA534-9AD7-FC96-B8C0-322A9902EEF8}"/>
              </a:ext>
            </a:extLst>
          </p:cNvPr>
          <p:cNvSpPr txBox="1"/>
          <p:nvPr/>
        </p:nvSpPr>
        <p:spPr>
          <a:xfrm>
            <a:off x="7711440" y="1178560"/>
            <a:ext cx="2122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Warning Issuance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4001765D-BC3F-A1CF-4B31-334400BFD894}"/>
              </a:ext>
            </a:extLst>
          </p:cNvPr>
          <p:cNvSpPr/>
          <p:nvPr/>
        </p:nvSpPr>
        <p:spPr>
          <a:xfrm>
            <a:off x="7457441" y="996746"/>
            <a:ext cx="404182" cy="77266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426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94E4B-08FA-8894-CBBC-E435AEEA962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Relevance for State and District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1260F-C376-4CB2-7AE4-CD08BD12D50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casualties through DRR as per disaster management act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 of level of vulnerability and issue a warning at local and district level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through Email, SMS and Website update to proper Personnel/Body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 of GLOF for next few days and even weeks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to conduct GLOF awareness workshop at state level with the help of SRM-SIKKIM  campus</a:t>
            </a:r>
          </a:p>
        </p:txBody>
      </p:sp>
    </p:spTree>
    <p:extLst>
      <p:ext uri="{BB962C8B-B14F-4D97-AF65-F5344CB8AC3E}">
        <p14:creationId xmlns:p14="http://schemas.microsoft.com/office/powerpoint/2010/main" val="4014613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81F87-8FA7-8AB3-155A-180E2A20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685" y="136525"/>
            <a:ext cx="1676401" cy="118064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D7992F-766E-F857-0B18-D8F40F835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323066"/>
              </p:ext>
            </p:extLst>
          </p:nvPr>
        </p:nvGraphicFramePr>
        <p:xfrm>
          <a:off x="2013862" y="253946"/>
          <a:ext cx="9927771" cy="6247853"/>
        </p:xfrm>
        <a:graphic>
          <a:graphicData uri="http://schemas.openxmlformats.org/drawingml/2006/table">
            <a:tbl>
              <a:tblPr firstRow="1" firstCol="1" bandRow="1">
                <a:effectLst/>
              </a:tblPr>
              <a:tblGrid>
                <a:gridCol w="4393243">
                  <a:extLst>
                    <a:ext uri="{9D8B030D-6E8A-4147-A177-3AD203B41FA5}">
                      <a16:colId xmlns:a16="http://schemas.microsoft.com/office/drawing/2014/main" val="546578194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3431375357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90082883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2268462640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2043486720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4120329822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2018813481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1590496023"/>
                    </a:ext>
                  </a:extLst>
                </a:gridCol>
                <a:gridCol w="691816">
                  <a:extLst>
                    <a:ext uri="{9D8B030D-6E8A-4147-A177-3AD203B41FA5}">
                      <a16:colId xmlns:a16="http://schemas.microsoft.com/office/drawing/2014/main" val="2867768009"/>
                    </a:ext>
                  </a:extLst>
                </a:gridCol>
              </a:tblGrid>
              <a:tr h="219078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ACTIVITIES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YEAR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II YEAR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489844"/>
                  </a:ext>
                </a:extLst>
              </a:tr>
              <a:tr h="2322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37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 Student selection (UG level), Equipment purchase, Satellite data acquisition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821977"/>
                  </a:ext>
                </a:extLst>
              </a:tr>
              <a:tr h="91527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 Field visit and data collection: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Drone image collection, Database creation, Ground based evidence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651198"/>
                  </a:ext>
                </a:extLst>
              </a:tr>
              <a:tr h="99605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Image processing through software: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Object detection and image classification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306690"/>
                  </a:ext>
                </a:extLst>
              </a:tr>
              <a:tr h="44954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 Glacial and glacial lake Morphometric analysis and quantification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832380"/>
                  </a:ext>
                </a:extLst>
              </a:tr>
              <a:tr h="46412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 ML based model and decision Support System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725895"/>
                  </a:ext>
                </a:extLst>
              </a:tr>
              <a:tr h="149989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 Early Warning System for GLOF: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Monitoring of Dynamic changes of glacial lake,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Checking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warning at various level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Message broadcasting using 4G/5G network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499932"/>
                  </a:ext>
                </a:extLst>
              </a:tr>
              <a:tr h="27146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 Report Submission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91262"/>
                  </a:ext>
                </a:extLst>
              </a:tr>
              <a:tr h="21907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 Research publications and patent work 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151" marR="541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144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738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1920-DF86-166E-AAAE-13ED028A5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368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Budget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ABE0D33-B2B0-DF8F-3907-5DF26AC416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033503"/>
              </p:ext>
            </p:extLst>
          </p:nvPr>
        </p:nvGraphicFramePr>
        <p:xfrm>
          <a:off x="838200" y="558800"/>
          <a:ext cx="9240838" cy="620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435936" imgH="6032675" progId="Excel.Sheet.12">
                  <p:embed/>
                </p:oleObj>
              </mc:Choice>
              <mc:Fallback>
                <p:oleObj name="Worksheet" r:id="rId2" imgW="7435936" imgH="60326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558800"/>
                        <a:ext cx="9240838" cy="6207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9748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B4338-A098-0D9E-9468-D14A75186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116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 and Outcome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CACEB-8737-FEE5-BD39-66ED3A541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257"/>
            <a:ext cx="10515600" cy="477270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low-cost high endurance drone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Takeoff and landing in steep terrain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 against strong katabatic winds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unreliable compass used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Tolerate battery deterioration in low temperature, limited technical support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drone launch and landing process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Machine Learning model, determining GLOF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better result than conventional mathematical model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dependency on satellite and ground system images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and automatic EWS system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student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internship supported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GLOF awareness program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organised through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SRM Sikkim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can be extended for land slide and other disaster scenarios</a:t>
            </a:r>
          </a:p>
        </p:txBody>
      </p:sp>
    </p:spTree>
    <p:extLst>
      <p:ext uri="{BB962C8B-B14F-4D97-AF65-F5344CB8AC3E}">
        <p14:creationId xmlns:p14="http://schemas.microsoft.com/office/powerpoint/2010/main" val="1682548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2EBF-90F4-61D1-9C86-C98870D07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EBA5D-A97E-5E3D-8DBB-875E9FC2D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90320"/>
            <a:ext cx="11734800" cy="5344160"/>
          </a:xfrm>
        </p:spPr>
        <p:txBody>
          <a:bodyPr>
            <a:noAutofit/>
          </a:bodyPr>
          <a:lstStyle/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Compendium of Task Force Report on NDMA Guidelines Management of Glacial Lake Outburst Floods (GLOFs) A Publication of the National Disaster Management Authority, Government of India.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 2020, New Delhi.</a:t>
            </a:r>
            <a:endParaRPr lang="en-US" sz="1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C. Ryan, 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al., UAV photogrammetry and structure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frommotion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assess calving dynamics at store glacier, a large outlet draining the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greenland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ice sheet. 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Cryosphere, vol. 9, 1–11, 2015. </a:t>
            </a:r>
            <a:r>
              <a:rPr lang="en-IN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10.5194/tc-9-1-2015.</a:t>
            </a:r>
          </a:p>
          <a:p>
            <a:pPr algn="l"/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</a:t>
            </a:r>
            <a:r>
              <a:rPr lang="en-IN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Jouvet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Initiation of a major calving event on the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bowdoin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glacier captured by UAV photogrammetry. Cryosphere, vol. 11, 911–921, 2017.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10.5194/tc-11-91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1-2017.</a:t>
            </a:r>
          </a:p>
          <a:p>
            <a:pPr algn="l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R.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Chudley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High-accuracy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uav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photogrammetry of ice sheet dynamics with no ground 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control. Cryosphere, vol.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13, 955–968, 2019. </a:t>
            </a:r>
            <a:r>
              <a:rPr lang="en-IN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10.5194/tc-13-955-2019.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Jouvet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In-situ measurements of the ice flow motion at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Sermia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glacier using a remotely controlled UAV.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Geosci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Instr. Methods Data Syst. Discuss., 1–15, 2019.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10.5194/gi-2019-6.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Walter, et al., Calving event size measurements and statistics of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Sermia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Greenland, from terrestrial radar interferometry, Cryosphere Discuss., 1–23, 2019.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10.5194/tc-2019-102.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Rohner, et al.,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Multisensor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 of tidewater glacier flow fields derived from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intensity tracking, Cryosphere Discuss., 1–27, 2019.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10.5194/tc-2018-278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Taylor, et al., Glacial lake outburst floods threaten millions globally, Nat Commun 14, 487, 2023. https://doi.org/10.1038/s41467-023-36033-x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Kaushik, et al., Increasing risk of glacial lake outburst flood in Sikkim, Eastern Himalaya, Remote Sensing Applications: Society and Environment, vol. 36, November 2024.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Hazra, et al., Assessment of Proglacial Lakes in Sikkim Himalaya, India for Glacial Lake Outburst Flood (GLOF) Risk Analysis using HEC-RAS and Geospatial Techniques, J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 India, vol. 98, 344–352, 2022. https://doi.org/10.1007/s12594-022-1986-1.</a:t>
            </a:r>
          </a:p>
          <a:p>
            <a:pPr algn="l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Schmidt, et al., Cryosphere hazards in Ladakh: the 2014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Gya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glacial lake outburst flood and its implications for risk assessment, Nat Hazards, vol. 104, 2071–2095, 2020. https://doi.org/10.1007/s11069-020-04262-8.</a:t>
            </a:r>
          </a:p>
        </p:txBody>
      </p:sp>
    </p:spTree>
    <p:extLst>
      <p:ext uri="{BB962C8B-B14F-4D97-AF65-F5344CB8AC3E}">
        <p14:creationId xmlns:p14="http://schemas.microsoft.com/office/powerpoint/2010/main" val="52926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1EF0-187C-9D22-9516-CEE39F11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872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 i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  <a:endParaRPr lang="en-IN" sz="6600" b="1" i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358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1177</TotalTime>
  <Words>1506</Words>
  <Application>Microsoft Office PowerPoint</Application>
  <PresentationFormat>Widescreen</PresentationFormat>
  <Paragraphs>245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Times New Roman</vt:lpstr>
      <vt:lpstr>Office Theme</vt:lpstr>
      <vt:lpstr>Worksheet</vt:lpstr>
      <vt:lpstr>Development of a GLOF Warning System through Strong Endurance Drone-based Long-Range (LoRa) Communication for the Upper Catchment of the Tista River  (Proposal under NIDM Research Project on Disaster Management: Innovation &amp; Action Research)</vt:lpstr>
      <vt:lpstr>Problem and Objective</vt:lpstr>
      <vt:lpstr>Glacial Lake Monitoring and Communication</vt:lpstr>
      <vt:lpstr>Overall Procedure</vt:lpstr>
      <vt:lpstr>Drone Configuration and Communication</vt:lpstr>
      <vt:lpstr>Early Warning System</vt:lpstr>
      <vt:lpstr>PowerPoint Presentation</vt:lpstr>
      <vt:lpstr>Work  Plan</vt:lpstr>
      <vt:lpstr>Proposed Budget</vt:lpstr>
      <vt:lpstr>Deliverables and Outcome</vt:lpstr>
      <vt:lpstr>References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 Rana 102830</dc:creator>
  <cp:lastModifiedBy>Manoj Kumar Rana 102830</cp:lastModifiedBy>
  <cp:revision>231</cp:revision>
  <dcterms:created xsi:type="dcterms:W3CDTF">2024-11-04T06:36:11Z</dcterms:created>
  <dcterms:modified xsi:type="dcterms:W3CDTF">2024-11-06T07:04:38Z</dcterms:modified>
</cp:coreProperties>
</file>