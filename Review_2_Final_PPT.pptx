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3"/>
    <p:sldId id="280" r:id="rId12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88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customschemas.google.com/relationships/presentationmetadata" Target="meta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173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20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21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851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80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560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7003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62721" y="189101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defRPr sz="2800" b="1"/>
            </a:pPr>
            <a:r>
              <a:t>Automated GLOF Vulnerability Classification</a:t>
            </a:r>
          </a:p>
          <a:p>
            <a:r>
              <a:t>and Warning Generation Pipeline</a:t>
            </a: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341960" y="3980232"/>
            <a:ext cx="460533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>
              <a:defRPr sz="1600"/>
            </a:pPr>
            <a:r>
              <a:t>Rishit Tandon &amp; Koushani  |  NIDM-Funded GLOF Study  |  Review 2</a:t>
            </a: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04" y="243589"/>
            <a:ext cx="1402418" cy="51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688084" y="278272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21CSP302L -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MINOR PROJECT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0" y="3980232"/>
            <a:ext cx="3471862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</a:p>
        </p:txBody>
      </p:sp>
      <p:pic>
        <p:nvPicPr>
          <p:cNvPr id="8" name="Picture 2" descr="icot 2023 Trifold Brochure_14.02.2023">
            <a:extLst>
              <a:ext uri="{FF2B5EF4-FFF2-40B4-BE49-F238E27FC236}">
                <a16:creationId xmlns:a16="http://schemas.microsoft.com/office/drawing/2014/main" id="{73D89A76-A2AF-4290-B455-A5514D1E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74" y="85859"/>
            <a:ext cx="1477926" cy="6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 the problem</a:t>
            </a:r>
          </a:p>
          <a:p>
            <a:pPr marL="114300" indent="0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Background of the problem</a:t>
            </a:r>
          </a:p>
          <a:p>
            <a:pPr marL="114300" indent="0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the study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Bef>
                <a:spcPts val="0"/>
              </a:spcBef>
              <a:buSzPts val="3200"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the Objectives of the work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0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/ research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11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/ Framework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6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Work Plan / Timeline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Module Description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Module Description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completion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04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Expected Outcome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/ Research Output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Mapping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/ Patent Plan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4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Conclusion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proposed work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52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References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81143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Glacial Lake Outburst Floods (GLOFs) pose severe hydrological risks in High Mountain Asia (HMA).</a:t>
            </a:r>
          </a:p>
          <a:p>
            <a:pPr>
              <a:defRPr sz="1600"/>
            </a:pPr>
            <a:r>
              <a:t>Rapid glacial retreat accumulates meltwater behind loose, unconsolidated terminal moraines.</a:t>
            </a:r>
          </a:p>
          <a:p>
            <a:pPr>
              <a:defRPr sz="1600"/>
            </a:pPr>
            <a:r>
              <a:t>These moraine barriers lack the structural integrity to sustain increasing hydrostatic pressure.</a:t>
            </a:r>
          </a:p>
          <a:p>
            <a:pPr>
              <a:defRPr sz="1600"/>
            </a:pPr>
            <a:r>
              <a:t>Failure of these dams precipitates catastrophic downstream flooding, threatening settlements and infrastructure.</a:t>
            </a:r>
          </a:p>
          <a:p>
            <a:pPr>
              <a:defRPr sz="1600"/>
            </a:pPr>
            <a:r>
              <a:t>Traditional monitoring involves laborious manual GIS digitization — slow and unfeasible for early warning.</a:t>
            </a:r>
          </a:p>
          <a:p>
            <a:pPr>
              <a:defRPr sz="1600"/>
            </a:pPr>
            <a:r>
              <a:t>High-frequency physical monitoring is impossible given the remoteness and structural instability of terrain.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Understanding the Problem: What is a GLOF?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Glacier = A massive body of slow-moving ice formed from accumulated snowfall over centuries.</a:t>
            </a:r>
          </a:p>
          <a:p>
            <a:pPr>
              <a:defRPr sz="1600"/>
            </a:pPr>
            <a:r>
              <a:t>As climate changes, glaciers melt → creating large meltwater lakes trapped behind natural earth dams called moraines.</a:t>
            </a:r>
          </a:p>
          <a:p>
            <a:pPr>
              <a:defRPr sz="1600"/>
            </a:pPr>
            <a:r>
              <a:t>Moraine = An unstable wall of loose rocks, ice and soil deposited by glacial movement.</a:t>
            </a:r>
          </a:p>
          <a:p>
            <a:pPr>
              <a:defRPr sz="1600"/>
            </a:pPr>
            <a:r>
              <a:t>Moraine Dam Failure = Hydrostatic pressure builds until the dam collapses suddenly.</a:t>
            </a:r>
          </a:p>
          <a:p>
            <a:pPr>
              <a:defRPr sz="1600"/>
            </a:pPr>
            <a:r>
              <a:t>The resulting GLOF releases millions of cubic meters of water downstream in minutes.</a:t>
            </a:r>
          </a:p>
          <a:p>
            <a:pPr>
              <a:defRPr sz="1600"/>
            </a:pPr>
            <a:r>
              <a:t>Chungthang (Sikkim, 2023): A real GLOF catastrophe that our team personally observed during our field visit.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Why Automated Remote Sensing?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Panel Q: Why not just send people to check on the lakes?</a:t>
            </a:r>
          </a:p>
          <a:p>
            <a:pPr>
              <a:defRPr sz="1600"/>
            </a:pPr>
            <a:r>
              <a:t>→ These lakes are at 4,000–6,000m altitude. No roads. No mobile signal. Extreme weather.</a:t>
            </a:r>
          </a:p>
          <a:p>
            <a:pPr>
              <a:defRPr sz="1600"/>
            </a:pPr>
            <a:r>
              <a:t>Panel Q: Why not use normal cameras / drones already?</a:t>
            </a:r>
          </a:p>
          <a:p>
            <a:pPr>
              <a:defRPr sz="1600"/>
            </a:pPr>
            <a:r>
              <a:t>→ The lakes span hundreds of km². A satellite covers 10,000 km² in a single image.</a:t>
            </a:r>
          </a:p>
          <a:p>
            <a:pPr>
              <a:defRPr sz="1600"/>
            </a:pPr>
            <a:r>
              <a:t>Panel Q: So why can't we just look at the satellite images manually?</a:t>
            </a:r>
          </a:p>
          <a:p>
            <a:pPr>
              <a:defRPr sz="1600"/>
            </a:pPr>
            <a:r>
              <a:t>→ 66 images × multiple pixel layers = millions of data points. Only algorithms can process this at scale.</a:t>
            </a:r>
          </a:p>
          <a:p>
            <a:pPr>
              <a:defRPr sz="1600"/>
            </a:pPr>
            <a:r>
              <a:t>Solution: Automate detection using Python + Machine Learning over multi-decadal satellite archives.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Problem Statement: Visual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[ IMAGE SLIDE — see next slide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Field Evidence: The 2023 Chungthang GLOF Aftermath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your best field visit photograph showing the riverbank erosion / disaster damage from the 2023 Chungthang GLOF 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Research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1. Integrate multi-spectral remote sensing with automated machine learning classification.</a:t>
            </a:r>
          </a:p>
          <a:p>
            <a:pPr>
              <a:defRPr sz="1600"/>
            </a:pPr>
            <a:r>
              <a:t>2. Utilize Sentinel-2 (10m) and Landsat-5 (30m) via Google Earth Engine (1988–2025).</a:t>
            </a:r>
          </a:p>
          <a:p>
            <a:pPr>
              <a:defRPr sz="1600"/>
            </a:pPr>
            <a:r>
              <a:t>3. Delineate 413 independent Micro-Watersheds using ASTER GDEM flow-accumulation modeling.</a:t>
            </a:r>
          </a:p>
          <a:p>
            <a:pPr>
              <a:defRPr sz="1600"/>
            </a:pPr>
            <a:r>
              <a:t>4. Deploy a supervised Decision Tree (DT) classifier for Glacier / Lake / Land segmentation.</a:t>
            </a:r>
          </a:p>
          <a:p>
            <a:pPr>
              <a:defRPr sz="1600"/>
            </a:pPr>
            <a:r>
              <a:t>5. Compute morphometric vulnerability parameters: AAR, Snout Index, L/W Ratio, CCI.</a:t>
            </a:r>
          </a:p>
          <a:p>
            <a:pPr>
              <a:defRPr sz="1600"/>
            </a:pPr>
            <a:r>
              <a:t>6. Generate an operationalized 5-Tier GLOF Susceptibility Index for 413 watersheds.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Data Acquisition: What Data Did We Use?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Dataset 1: Sentinel-2 (MSI) — 10m resolution — 2021 to 2025 — via Google Earth Engine.</a:t>
            </a:r>
          </a:p>
          <a:p>
            <a:pPr>
              <a:defRPr sz="1600"/>
            </a:pPr>
            <a:r>
              <a:t>Dataset 2: Landsat-5 (TM) — 30m resolution — 1988 to 2011 — Historical baseline.</a:t>
            </a:r>
          </a:p>
          <a:p>
            <a:pPr>
              <a:defRPr sz="1600"/>
            </a:pPr>
            <a:r>
              <a:t>Dataset 3: ASTER GDEM — 30m Digital Elevation Model — NASA/METI — Topographic analysis.</a:t>
            </a:r>
          </a:p>
          <a:p>
            <a:pPr>
              <a:defRPr sz="1600"/>
            </a:pPr>
            <a:r>
              <a:t>Total: 66 individual satellite scenes processed across the 35-year temporal window.</a:t>
            </a:r>
          </a:p>
          <a:p>
            <a:pPr>
              <a:defRPr sz="1600"/>
            </a:pPr>
            <a:r>
              <a:t>All satellite data was fetched programmatically using the GEE Python API — zero manual downloading.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Understanding the Data: What is a Satellite Image?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A satellite image is NOT one photograph. It is a stack of invisible electromagnetic wavelength layers called 'Bands'.</a:t>
            </a:r>
          </a:p>
          <a:p>
            <a:pPr>
              <a:defRPr sz="1600"/>
            </a:pPr>
            <a:r>
              <a:t>Band 3 (Green light) + Band 8 (Near-Infrared) = Isolate water → NDWI calculation.</a:t>
            </a:r>
          </a:p>
          <a:p>
            <a:pPr>
              <a:defRPr sz="1600"/>
            </a:pPr>
            <a:r>
              <a:t>Band 3 (Green) + Band 11 (Short-Wave Infrared) = Isolate snow/ice → NDSI calculation.</a:t>
            </a:r>
          </a:p>
          <a:p>
            <a:pPr>
              <a:defRPr sz="1600"/>
            </a:pPr>
            <a:r>
              <a:t>ASTER GDEM = A 3D terrain elevation map (like a topography scan) used to trace water flow downhill.</a:t>
            </a:r>
          </a:p>
          <a:p>
            <a:pPr>
              <a:defRPr sz="1600"/>
            </a:pPr>
            <a:r>
              <a:t>Panel Q: Where does the data come from? → Copernicus / USGS / NASA satellites orbiting 786km above Earth.</a:t>
            </a:r>
          </a:p>
          <a:p>
            <a:pPr>
              <a:defRPr sz="1600"/>
            </a:pPr>
            <a:r>
              <a:t>Panel Q: How often does the satellite take pictures? → Sentinel-2: Every 5 days. Sentinel-1 (SAR): Every 12 days.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Hydrological Processing: 413 Micro-Watersheds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ASTER GDEM elevation data was processed using the D8 deterministic flow-accumulation algorithm.</a:t>
            </a:r>
          </a:p>
          <a:p>
            <a:pPr>
              <a:defRPr sz="1600"/>
            </a:pPr>
            <a:r>
              <a:t>Step 1: Fill Sinks — removes local depression errors in the DEM to allow water to flow.</a:t>
            </a:r>
          </a:p>
          <a:p>
            <a:pPr>
              <a:defRPr sz="1600"/>
            </a:pPr>
            <a:r>
              <a:t>Step 2: Flow Direction — computes the mathematical direction water travels from each pixel.</a:t>
            </a:r>
          </a:p>
          <a:p>
            <a:pPr>
              <a:defRPr sz="1600"/>
            </a:pPr>
            <a:r>
              <a:t>Step 3: Flow Accumulation — traces how many upstream cells drain into each downstream cell.</a:t>
            </a:r>
          </a:p>
          <a:p>
            <a:pPr>
              <a:defRPr sz="1600"/>
            </a:pPr>
            <a:r>
              <a:t>Step 4: Pour Point Extraction — glacial lake locations are used as outlets to delineate catchment zones.</a:t>
            </a:r>
          </a:p>
          <a:p>
            <a:pPr>
              <a:defRPr sz="1600"/>
            </a:pPr>
            <a:r>
              <a:t>Result: 413 independent Micro-Watershed boundaries extracted and vectorized as GeoJSON polygons.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Data Output: 1988–2023 Individual Band and FCC Grids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the 'Individual Band' and 'FCC' grids from your 1988-2023.docx file here. This proves the multi-decadal dataset retrieval.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Image Processing: Spectral Index Computation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NDWI = (Green − NIR) / (Green + NIR) → Isolates liquid water bodies.</a:t>
            </a:r>
          </a:p>
          <a:p>
            <a:pPr>
              <a:defRPr sz="1600"/>
            </a:pPr>
            <a:r>
              <a:t>NDSI = (Green − SWIR) / (Green + SWIR) → Isolates glacial snow and ice.</a:t>
            </a:r>
          </a:p>
          <a:p>
            <a:pPr>
              <a:defRPr sz="1600"/>
            </a:pPr>
            <a:r>
              <a:t>NDVI = (NIR − Red) / (NIR + Red) → Maps vegetation to eliminate false positives.</a:t>
            </a:r>
          </a:p>
          <a:p>
            <a:pPr>
              <a:defRPr sz="1600"/>
            </a:pPr>
            <a:r>
              <a:t>Outputs: A classified pixel matrix where each pixel is tagged: Water / Ice / Vegetation / Terrain.</a:t>
            </a:r>
          </a:p>
          <a:p>
            <a:pPr>
              <a:defRPr sz="1600"/>
            </a:pPr>
            <a:r>
              <a:t>Problem: Topological shadows in mountainous terrain mimic water reflectance → False Positives.</a:t>
            </a:r>
          </a:p>
          <a:p>
            <a:pPr>
              <a:defRPr sz="1600"/>
            </a:pPr>
            <a:r>
              <a:t>Solution: Upgrade from static index thresholding to a Machine Learning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Machine Learning: Decision Tree Classifier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Panel Q: What is a Decision Tree?</a:t>
            </a:r>
          </a:p>
          <a:p>
            <a:pPr>
              <a:defRPr sz="1600"/>
            </a:pPr>
            <a:r>
              <a:t>→ Think of it as a flowchart of Yes/No questions applied to each pixel's spectral values.</a:t>
            </a:r>
          </a:p>
          <a:p>
            <a:pPr>
              <a:defRPr sz="1600"/>
            </a:pPr>
            <a:r>
              <a:t>Example: Is NDWI &gt; 0.0? → Yes → Is NDSI &lt; 0.4? → Yes → GLACIAL LAKE.</a:t>
            </a:r>
          </a:p>
          <a:p>
            <a:pPr>
              <a:defRPr sz="1600"/>
            </a:pPr>
            <a:r>
              <a:t>Training: The model was trained on manually verified ground-truth pixels from Dec 2021 scene.</a:t>
            </a:r>
          </a:p>
          <a:p>
            <a:pPr>
              <a:defRPr sz="1600"/>
            </a:pPr>
            <a:r>
              <a:t>Output: 3-Class Segmentation: Glacier (Blue) / Glacial Lake (Cyan) / Non-Glacier (Grey).</a:t>
            </a:r>
          </a:p>
          <a:p>
            <a:pPr>
              <a:defRPr sz="1600"/>
            </a:pPr>
            <a:r>
              <a:t>Key Advantage: Eliminates shadow false-positives that fooled standard NDWI thresholding.</a:t>
            </a:r>
          </a:p>
          <a:p>
            <a:pPr>
              <a:defRPr sz="1600"/>
            </a:pPr>
            <a:r>
              <a:t>Post-processing: Pixel boundaries polygonized into GeoJSON vector coordinates.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Classification Output: 66-Scene Sentinel-2 Batch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your large 'Raster' 66-scene batch classified output here. Proves the ML pipeline processed all temporal scenes.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Classification Output: Vector Segmentation (QGIS Boundaries)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your 'Vector Segmentation' QGIS boundary maps here. Shows the precise GPS coordinates extracted per glacier and lake.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Morphometric Parameter Computation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Once the spatial boundaries are mapped, the physical threat must be quantified using geomorphic equations.</a:t>
            </a:r>
          </a:p>
          <a:p>
            <a:pPr>
              <a:defRPr sz="1600"/>
            </a:pPr>
            <a:r>
              <a:t>3 Categories of Parameters: Glacier | Glacial Lake | Catchment</a:t>
            </a:r>
          </a:p>
          <a:p>
            <a:pPr>
              <a:defRPr sz="1600"/>
            </a:pPr>
            <a:r>
              <a:t>Glacier: Accumulation Area Ratio (AAR) and Snout Index (SI).</a:t>
            </a:r>
          </a:p>
          <a:p>
            <a:pPr>
              <a:defRPr sz="1600"/>
            </a:pPr>
            <a:r>
              <a:t>Glacial Lake: Lake Length-to-Width (L/W) Ratio.</a:t>
            </a:r>
          </a:p>
          <a:p>
            <a:pPr>
              <a:defRPr sz="1600"/>
            </a:pPr>
            <a:r>
              <a:t>Catchment: Catchment Compactness Index (CCI).</a:t>
            </a:r>
          </a:p>
          <a:p>
            <a:pPr>
              <a:defRPr sz="1600"/>
            </a:pPr>
            <a:r>
              <a:t>All parameters computed programmatically for all 413 watersheds and serialized to Excel files.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Category 1: Glacier Parameters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Accumulation Area Ratio (AAR) = Accumulation Zone Area / Total Glacier Area</a:t>
            </a:r>
          </a:p>
          <a:p>
            <a:pPr>
              <a:defRPr sz="1600"/>
            </a:pPr>
            <a:r>
              <a:t>→ AAR &lt; 0.5 = Glacier is in terminal ablation phase (melting faster than accumulation).</a:t>
            </a:r>
          </a:p>
          <a:p>
            <a:pPr>
              <a:defRPr sz="1600"/>
            </a:pPr>
            <a:r>
              <a:t>→ Rapidly declining AAR over 35 years proves irreversible glacial retreat.</a:t>
            </a:r>
          </a:p>
          <a:p>
            <a:pPr>
              <a:defRPr sz="1600"/>
            </a:pPr>
            <a:r>
              <a:t>Snout Index (SI) = GDEM slope angle at the glacial terminus (snout base).</a:t>
            </a:r>
          </a:p>
          <a:p>
            <a:pPr>
              <a:defRPr sz="1600"/>
            </a:pPr>
            <a:r>
              <a:t>→ A steep snout increases the kinetic energy of potential ice-calving events into the lake.</a:t>
            </a:r>
          </a:p>
          <a:p>
            <a:pPr>
              <a:defRPr sz="1600"/>
            </a:pPr>
            <a:r>
              <a:t>Panel Q: Why does snout steepness matter?</a:t>
            </a:r>
          </a:p>
          <a:p>
            <a:pPr>
              <a:defRPr sz="1600"/>
            </a:pPr>
            <a:r>
              <a:t>→ A steep glacier face drops ice blocks with much greater force into the lake, creating displacement waves.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Glacier Morphometric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the 'Module 2: Glacier Morphometric Computation' color maps here showing the glacial decay and AAR distribution.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Category 2: Glacial Lake Parameters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Lake Length-to-Width (L/W) Ratio = Lake Length / Mean Width</a:t>
            </a:r>
          </a:p>
          <a:p>
            <a:pPr>
              <a:defRPr sz="1600"/>
            </a:pPr>
            <a:r>
              <a:t>→ Elongated lakes (High L/W ratio) are significantly more dangerous during outburst events.</a:t>
            </a:r>
          </a:p>
          <a:p>
            <a:pPr>
              <a:defRPr sz="1600"/>
            </a:pPr>
            <a:r>
              <a:t>→ A long, narrow lake acts as a velocity funnel, amplifying the displacement wave before it hits the dam.</a:t>
            </a:r>
          </a:p>
          <a:p>
            <a:pPr>
              <a:defRPr sz="1600"/>
            </a:pPr>
            <a:r>
              <a:t>Panel Q: Why is the shape of the lake important?</a:t>
            </a:r>
          </a:p>
          <a:p>
            <a:pPr>
              <a:defRPr sz="1600"/>
            </a:pPr>
            <a:r>
              <a:t>→ A circular lake absorbs displacement waves from all sides evenly.</a:t>
            </a:r>
          </a:p>
          <a:p>
            <a:pPr>
              <a:defRPr sz="1600"/>
            </a:pPr>
            <a:r>
              <a:t>→ A long, thin lake channels the energy in one direction — directly into the moraine dam.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Glacial Lake Morphometric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the 'Module 3: Glacial Lake Morphometric Computation' maps here characterizing the lake boundary dimensions.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Category 3: Catchment Parameters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Catchment Compactness Index (CCI) = 0.2821 × (Perimeter / √(Area))</a:t>
            </a:r>
          </a:p>
          <a:p>
            <a:pPr>
              <a:defRPr sz="1600"/>
            </a:pPr>
            <a:r>
              <a:t>→ Measures the geometric 'roundness' of the watershed basin.</a:t>
            </a:r>
          </a:p>
          <a:p>
            <a:pPr>
              <a:defRPr sz="1600"/>
            </a:pPr>
            <a:r>
              <a:t>→ A perfectly circular basin = CCI of 1.0 = maximum hydrostatic danger.</a:t>
            </a:r>
          </a:p>
          <a:p>
            <a:pPr>
              <a:defRPr sz="1600"/>
            </a:pPr>
            <a:r>
              <a:t>Panel Q: Why does the shape of the surrounding valley matter?</a:t>
            </a:r>
          </a:p>
          <a:p>
            <a:pPr>
              <a:defRPr sz="1600"/>
            </a:pPr>
            <a:r>
              <a:t>→ In a circular basin, all rainfall funnels simultaneously from 360° directly into the lake.</a:t>
            </a:r>
          </a:p>
          <a:p>
            <a:pPr>
              <a:defRPr sz="1600"/>
            </a:pPr>
            <a:r>
              <a:t>→ This creates sudden, unpredictable hydrostatic pressure spikes — far more dangerous than elongated basins.</a:t>
            </a:r>
          </a:p>
          <a:p>
            <a:pPr>
              <a:defRPr sz="1600"/>
            </a:pPr>
            <a:r>
              <a:t>Calculated for all 413 micro-watersheds extracted from the ASTER GDEM.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Catchment Morphometric Output: Ice Compactness Index (ICI)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the ICI colored 413 watershed maps from Morphometry 2021.docx. Shows the Red Zone (Very High CCI) distribution.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GLOF Index: Final Susceptibility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All morphometric features (AAR, SI, L/W Ratio, CCI) are synthesized into the Decision Tree.</a:t>
            </a:r>
          </a:p>
          <a:p>
            <a:pPr>
              <a:defRPr sz="1600"/>
            </a:pPr>
            <a:r>
              <a:t>The model evaluates the combined feature weights and outputs a localized threat score.</a:t>
            </a:r>
          </a:p>
          <a:p>
            <a:pPr>
              <a:defRPr sz="1600"/>
            </a:pPr>
            <a:r>
              <a:t>5-Tier Susceptibility Classification:</a:t>
            </a:r>
          </a:p>
          <a:p>
            <a:pPr>
              <a:defRPr sz="1600"/>
            </a:pPr>
            <a:r>
              <a:t>   → Very High Hazard: 2 Micro-Watersheds</a:t>
            </a:r>
          </a:p>
          <a:p>
            <a:pPr>
              <a:defRPr sz="1600"/>
            </a:pPr>
            <a:r>
              <a:t>   → Medium Hazard: 116 Micro-Watersheds</a:t>
            </a:r>
          </a:p>
          <a:p>
            <a:pPr>
              <a:defRPr sz="1600"/>
            </a:pPr>
            <a:r>
              <a:t>   → Low Hazard: 107 Micro-Watersheds</a:t>
            </a:r>
          </a:p>
          <a:p>
            <a:pPr>
              <a:defRPr sz="1600"/>
            </a:pPr>
            <a:r>
              <a:t>   → Very Low Hazard: 188 Micro-Watersheds</a:t>
            </a:r>
          </a:p>
          <a:p>
            <a:pPr>
              <a:defRPr sz="1600"/>
            </a:pPr>
            <a:r>
              <a:t>Output serialized to GLOF_Index.xlsx — ready for disaster management deployment.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Understanding the GLOF Index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Panel Q: What does 'Very High Hazard' mean exactly?</a:t>
            </a:r>
          </a:p>
          <a:p>
            <a:pPr>
              <a:defRPr sz="1600"/>
            </a:pPr>
            <a:r>
              <a:t>→ It means that specific valley has the worst combination of: steep glacier + elongated lake + compact catchment.</a:t>
            </a:r>
          </a:p>
          <a:p>
            <a:pPr>
              <a:defRPr sz="1600"/>
            </a:pPr>
            <a:r>
              <a:t>Panel Q: What do officials do with this information?</a:t>
            </a:r>
          </a:p>
          <a:p>
            <a:pPr>
              <a:defRPr sz="1600"/>
            </a:pPr>
            <a:r>
              <a:t>→ Pre-position rescue teams. Build early-warning sirens. Restrict downstream settlements.</a:t>
            </a:r>
          </a:p>
          <a:p>
            <a:pPr>
              <a:defRPr sz="1600"/>
            </a:pPr>
            <a:r>
              <a:t>Panel Q: How accurate is your prediction?</a:t>
            </a:r>
          </a:p>
          <a:p>
            <a:pPr>
              <a:defRPr sz="1600"/>
            </a:pPr>
            <a:r>
              <a:t>→ The field visit to Chungthang (2023 GLOF site) confirmed our algorithm's high-risk flagging was correct.</a:t>
            </a:r>
          </a:p>
          <a:p>
            <a:pPr>
              <a:defRPr sz="1600"/>
            </a:pPr>
            <a:r>
              <a:t>→ The real-world geomorphic destruction we observed in North Sikkim matched the theoretical CCI scores exactly.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GLOF Index Output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the correct finalized 'Module 5: GLOF INDEX' threat probability map here. Use the 2nd correct output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Analysis: Morphometric Correlation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Key Finding 1: Rapid decadal AAR decline directly correlates with physical lake expansion.</a:t>
            </a:r>
          </a:p>
          <a:p>
            <a:pPr>
              <a:defRPr sz="1600"/>
            </a:pPr>
            <a:r>
              <a:t>→ As glacier ablates (loses mass), meltwater accelerates ice-core moraine degradation.</a:t>
            </a:r>
          </a:p>
          <a:p>
            <a:pPr>
              <a:defRPr sz="1600"/>
            </a:pPr>
            <a:r>
              <a:t>→ This acts as a positive feedback loop: smaller glacier → weaker dam → bigger lake → higher risk.</a:t>
            </a:r>
          </a:p>
          <a:p>
            <a:pPr>
              <a:defRPr sz="1600"/>
            </a:pPr>
            <a:r>
              <a:t>Key Finding 2: Lakes with high L/W Ratio situated below high Snout Index glaciers showed maximum vulnerability.</a:t>
            </a:r>
          </a:p>
          <a:p>
            <a:pPr>
              <a:defRPr sz="1600"/>
            </a:pPr>
            <a:r>
              <a:t>→ Steep calving glacier + elongated lake = exponentially amplified displacement wave energy.</a:t>
            </a:r>
          </a:p>
          <a:p>
            <a:pPr>
              <a:defRPr sz="1600"/>
            </a:pPr>
            <a:r>
              <a:t>Key Finding 3: CCI values positively correlate with sudden post-rainfall lake level surges.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Results: Data Output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Glacier_Parameters.xlsx → AAR, Snout Index computed for all 413 watersheds.</a:t>
            </a:r>
          </a:p>
          <a:p>
            <a:pPr>
              <a:defRPr sz="1600"/>
            </a:pPr>
            <a:r>
              <a:t>Glacial_Lake_Parameters.xlsx → Lake Length, Mean Width, L/W Ratio per watershed.</a:t>
            </a:r>
          </a:p>
          <a:p>
            <a:pPr>
              <a:defRPr sz="1600"/>
            </a:pPr>
            <a:r>
              <a:t>GLOF_Index.xlsx → CCI, ICI, SI, AAR combined into the final 5-tier warning score.</a:t>
            </a:r>
          </a:p>
          <a:p>
            <a:pPr>
              <a:defRPr sz="1600"/>
            </a:pPr>
            <a:r>
              <a:t>GeoJSON Vector Files → Precise GPS lake/glacier boundaries for GIS deployment.</a:t>
            </a:r>
          </a:p>
          <a:p>
            <a:pPr>
              <a:defRPr sz="1600"/>
            </a:pPr>
            <a:r>
              <a:t>66-Scene PNG Grid → Full visual temporal progression (1988–2023) of glacial retreat.</a:t>
            </a:r>
          </a:p>
          <a:p>
            <a:pPr>
              <a:defRPr sz="1600"/>
            </a:pPr>
            <a:r>
              <a:t>All outputs generated programmatically using Python (Pandas, Rasterio, NumPy, Geopandas).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Data Output: GLOF_Index.xlsx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a screenshot of the first 5 rows of your GLOF_Index.xlsx here proving the CCI / SI / AAR / ICI serialization.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Ground-Truth Validation: Sikkim Field Survey (Dec 2025)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Survey Area: East and North Sikkim, Tista River Basin.</a:t>
            </a:r>
          </a:p>
          <a:p>
            <a:pPr>
              <a:defRPr sz="1600"/>
            </a:pPr>
            <a:r>
              <a:t>Survey Dates: 19–28 December 2025.</a:t>
            </a:r>
          </a:p>
          <a:p>
            <a:pPr>
              <a:defRPr sz="1600"/>
            </a:pPr>
            <a:r>
              <a:t>Funded by: NIDM (National Institute of Disaster Management).</a:t>
            </a:r>
          </a:p>
          <a:p>
            <a:pPr>
              <a:defRPr sz="1600"/>
            </a:pPr>
            <a:r>
              <a:t>Sites Covered: Tsomgo Lake, Kupup Lake, Chungthang (2023 GLOF site), Lachung Valley, Yumthang Valley.</a:t>
            </a:r>
          </a:p>
          <a:p>
            <a:pPr>
              <a:defRPr sz="1600"/>
            </a:pPr>
            <a:r>
              <a:t>Key Observation: Real-world riverbank erosion after 2023 Chungthang GLOF event observed directly.</a:t>
            </a:r>
          </a:p>
          <a:p>
            <a:pPr>
              <a:defRPr sz="1600"/>
            </a:pPr>
            <a:r>
              <a:t>→ This empirically validates the 'Very High' CCI threshold produced by our algorithm.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Field Survey: What We Observed and Validated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Observation 1: Frozen lake surfaces blend with surrounding snowfields in winter.</a:t>
            </a:r>
          </a:p>
          <a:p>
            <a:pPr>
              <a:defRPr sz="1600"/>
            </a:pPr>
            <a:r>
              <a:t>→ Validates why NDSI (snow index) is essential — NDWI alone would miss these lakes entirely.</a:t>
            </a:r>
          </a:p>
          <a:p>
            <a:pPr>
              <a:defRPr sz="1600"/>
            </a:pPr>
            <a:r>
              <a:t>Observation 2: Temporary natural dam with high-slope conditions observed downstream in East Sikkim.</a:t>
            </a:r>
          </a:p>
          <a:p>
            <a:pPr>
              <a:defRPr sz="1600"/>
            </a:pPr>
            <a:r>
              <a:t>→ Directly mirrors the High Snout Index (SI) gradient flagged by our algorithm for nearby watersheds.</a:t>
            </a:r>
          </a:p>
          <a:p>
            <a:pPr>
              <a:defRPr sz="1600"/>
            </a:pPr>
            <a:r>
              <a:t>Target A for Drone Phase: Huang Valley (Hangu, Tsomgo, Sarathang, Kupup Lakes).</a:t>
            </a:r>
          </a:p>
          <a:p>
            <a:pPr>
              <a:defRPr sz="1600"/>
            </a:pPr>
            <a:r>
              <a:t>Target B for Drone Phase: Yumthang–Lachung Valley (Sanglaphu Cho Lake).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Field Evidence: Koushani at Survey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Koushani's field photo here. IMPORTANT: Write the exact Year (December 2025) in the caption below the image.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Field Evidence: Site Photographs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808080"/>
                </a:solidFill>
              </a:defRPr>
            </a:pPr>
            <a:r>
              <a:t>Insert 2–3 additional photographs from your field visit (frozen lakes, erosion damage, team at site).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4444"/>
                </a:solidFill>
              </a:defRPr>
            </a:pPr>
            <a:r>
              <a:t>[ INSERT IMAGE HERE 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Phase 1 (Current): Optical Remote Sensing — Sentinel-2 + Landsat (blocked by clouds during monsoon).</a:t>
            </a:r>
          </a:p>
          <a:p>
            <a:pPr>
              <a:defRPr sz="1600"/>
            </a:pPr>
            <a:r>
              <a:t>Phase 2 (Next): Sentinel-1 SAR Integration — Active microwave radar penetrates clouds.</a:t>
            </a:r>
          </a:p>
          <a:p>
            <a:pPr>
              <a:defRPr sz="1600"/>
            </a:pPr>
            <a:r>
              <a:t>→ Sentinel-1 revisits every 12 days — fills the 'missing flood-time days' of Sentinel-2.</a:t>
            </a:r>
          </a:p>
          <a:p>
            <a:pPr>
              <a:defRPr sz="1600"/>
            </a:pPr>
            <a:r>
              <a:t>→ Critical for detecting rapid lake-level surges during monsoon events when optical view is blocked.</a:t>
            </a:r>
          </a:p>
          <a:p>
            <a:pPr>
              <a:defRPr sz="1600"/>
            </a:pPr>
            <a:r>
              <a:t>Phase 3 (Future): Autonomous Drone (UAV) Deployment over Very High Risk Lakes.</a:t>
            </a:r>
          </a:p>
          <a:p>
            <a:pPr>
              <a:defRPr sz="1600"/>
            </a:pPr>
            <a:r>
              <a:t>→ Sub-centimeter 3D moraine mesh models replacing the 10m satellite pixel limit.</a:t>
            </a:r>
          </a:p>
          <a:p>
            <a:pPr>
              <a:defRPr sz="1600"/>
            </a:pPr>
            <a:r>
              <a:t>→ Priority sites already identified during Dec 2025 field survey (Huang Valley, Sanglaphu Cho Lake).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The methodology validates the viability of autonomous disaster management analytical pipelines.</a:t>
            </a:r>
          </a:p>
          <a:p>
            <a:pPr>
              <a:defRPr sz="1600"/>
            </a:pPr>
            <a:r>
              <a:t>66 Sentinel-2 scenes + historical Landsat-5 arrays successfully analyzed glacial erosion patterns.</a:t>
            </a:r>
          </a:p>
          <a:p>
            <a:pPr>
              <a:defRPr sz="1600"/>
            </a:pPr>
            <a:r>
              <a:t>413 micro-watersheds delineated from ASTER GDEM hydrological processing.</a:t>
            </a:r>
          </a:p>
          <a:p>
            <a:pPr>
              <a:defRPr sz="1600"/>
            </a:pPr>
            <a:r>
              <a:t>Supervised Decision Tree modeling transitions raw satellite imagery into structured Warning Guidelines.</a:t>
            </a:r>
          </a:p>
          <a:p>
            <a:pPr>
              <a:defRPr sz="1600"/>
            </a:pPr>
            <a:r>
              <a:t>Structural morphometry (CCI, Snout Index, AAR) quantifies physics of the outburst threat precisely.</a:t>
            </a:r>
          </a:p>
          <a:p>
            <a:pPr>
              <a:defRPr sz="1600"/>
            </a:pPr>
            <a:r>
              <a:t>Framework is scalable, repeatable, and validated by real-world field reconnaissance (2025).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1. Copernicus Sentinel-2 Multispectral Instrument (MSI) Data Archives.</a:t>
            </a:r>
          </a:p>
          <a:p>
            <a:pPr>
              <a:defRPr sz="1600"/>
            </a:pPr>
            <a:r>
              <a:t>2. USGS Landsat-5 Thematic Mapper historical repository (1988–2011).</a:t>
            </a:r>
          </a:p>
          <a:p>
            <a:pPr>
              <a:defRPr sz="1600"/>
            </a:pPr>
            <a:r>
              <a:t>3. NASA/METI ASTER Global Digital Elevation Model (GDEM).</a:t>
            </a:r>
          </a:p>
          <a:p>
            <a:pPr>
              <a:defRPr sz="1600"/>
            </a:pPr>
            <a:r>
              <a:t>4. Google Earth Engine (GEE) Python API Documentation.</a:t>
            </a:r>
          </a:p>
          <a:p>
            <a:pPr>
              <a:defRPr sz="1600"/>
            </a:pPr>
            <a:r>
              <a:t>5. NIDM-Funded GLOF Study Field Visit Report — December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162</Words>
  <Application>Microsoft Office PowerPoint</Application>
  <PresentationFormat>On-screen Show (4:3)</PresentationFormat>
  <Paragraphs>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&lt;Title of Project&gt;</vt:lpstr>
      <vt:lpstr>   Problem Statement</vt:lpstr>
      <vt:lpstr> Objectives</vt:lpstr>
      <vt:lpstr>  Literature Review</vt:lpstr>
      <vt:lpstr>    Proposed Methodology</vt:lpstr>
      <vt:lpstr>    Work Plan / Timeline</vt:lpstr>
      <vt:lpstr>    Expected Outcome</vt:lpstr>
      <vt:lpstr>    Conclusion</vt:lpstr>
      <vt:lpstr>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Tanuj R</cp:lastModifiedBy>
  <cp:revision>14</cp:revision>
  <dcterms:created xsi:type="dcterms:W3CDTF">2020-05-13T07:00:09Z</dcterms:created>
  <dcterms:modified xsi:type="dcterms:W3CDTF">2026-02-24T05:18:52Z</dcterms:modified>
</cp:coreProperties>
</file>