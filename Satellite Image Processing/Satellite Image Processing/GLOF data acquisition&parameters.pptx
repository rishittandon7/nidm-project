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94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0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3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3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89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63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3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81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57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87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50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E7A02-321E-443B-8DE6-EA9A2CFA2D64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6DB76-2BE8-421C-BFDA-6AAC37660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54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hoonidhi.nrsc.gov.in/bhoonidhi/index.html" TargetMode="External"/><Relationship Id="rId2" Type="http://schemas.openxmlformats.org/officeDocument/2006/relationships/hyperlink" Target="https://developers.google.com/earth-engine/datasets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30316"/>
              </p:ext>
            </p:extLst>
          </p:nvPr>
        </p:nvGraphicFramePr>
        <p:xfrm>
          <a:off x="258508" y="1061573"/>
          <a:ext cx="11765171" cy="469696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0626"/>
                <a:gridCol w="1753299"/>
                <a:gridCol w="1498554"/>
                <a:gridCol w="1246461"/>
                <a:gridCol w="1078398"/>
                <a:gridCol w="1081867"/>
                <a:gridCol w="1130952"/>
                <a:gridCol w="807032"/>
                <a:gridCol w="1937982"/>
              </a:tblGrid>
              <a:tr h="511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Satellite / Sensor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Agency / Organization</a:t>
                      </a:r>
                      <a:endParaRPr lang="en-IN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Resolution</a:t>
                      </a:r>
                      <a:endParaRPr lang="en-IN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Spectral Resolution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Radiometric Resolution</a:t>
                      </a:r>
                      <a:endParaRPr lang="en-IN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Resolution</a:t>
                      </a:r>
                      <a:endParaRPr lang="en-IN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</a:t>
                      </a:r>
                      <a:r>
                        <a:rPr lang="en-IN" sz="12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Images/ </a:t>
                      </a:r>
                      <a:r>
                        <a:rPr lang="en-IN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scenes</a:t>
                      </a:r>
                      <a:r>
                        <a:rPr lang="en-IN" sz="12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Acquired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767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Sentinel-2 (A/B</a:t>
                      </a: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MSI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European Space Agency (ESA) / European Commission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 (VNIR), 20 m (Red Edge, SWIR), 60 m (Atmospheric bands)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bands (443–2190 nm)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12-bit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days (with both satellites A &amp; B)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2021Nov-2025Mar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Earth Engine Server (Code : Java Script) </a:t>
                      </a:r>
                      <a:r>
                        <a:rPr lang="en-IN" sz="1200" u="sng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https://developers.google.com/earth-engine/datasets/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</a:tr>
              <a:tr h="767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Resourcesat LISS-4 MX(70)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 Space Research Organisation (ISRO)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 m (Multispectral)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bands (Green, Red, NIR)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10-bit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days (with steerable sensors)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2015Jan-2025Mar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Bhoonidhi NRSC EO data hub (</a:t>
                      </a:r>
                      <a:r>
                        <a:rPr lang="en-IN" sz="1200" u="sng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https://bhoonidhi.nrsc.gov.in/bhoonidhi/index.html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</a:tr>
              <a:tr h="767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Landsat 5 TM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 Geological Survey (USGS) / NASA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 (Visible, NIR, SWIR), 120 m (Thermal)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bands (450–1250 nm)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8-bit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days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1988Jan-2009Dec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Earth Engine Server (Code : Java Script) </a:t>
                      </a:r>
                      <a:r>
                        <a:rPr lang="en-IN" sz="1200" u="sng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https://developers.google.com/earth-engine/datasets/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</a:tr>
              <a:tr h="767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Landsat 8 OLI/TIRS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 Geological Survey (USGS) / NASA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 (Visible, NIR, SWIR), 15 m (PAN), 100 m (Thermal Infrared - TIRS)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bands (OLI: 9, TIRS: 2)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12-bit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days (8 days combined with Landsat 9)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2014Nov-2024Dec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Earth Engine Server (Code : Java Script) </a:t>
                      </a:r>
                      <a:r>
                        <a:rPr lang="en-IN" sz="1200" u="sng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https://developers.google.com/earth-engine/datasets/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</a:tr>
              <a:tr h="767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Landsat 9 OLI/TIRS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 Geological Survey (USGS) / NASA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 (Visible, NIR, SWIR), 15 m (PAN), 100 m (Thermal Infrared - TIRS)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bands (OLI: 9, TIRS: 2)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12-bit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days (8 days combined with Landsat 9)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2021Dec-2024Dec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Earth Engine Server (Code : Java Script) </a:t>
                      </a:r>
                      <a:r>
                        <a:rPr lang="en-IN" sz="12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https://developers.google.com/earth-engine/datasets/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22832" y="259308"/>
            <a:ext cx="8867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Data Acquisition 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Lhonak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Lake surroundings, North Sikkim: Upper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Tista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Catchment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09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864154"/>
              </p:ext>
            </p:extLst>
          </p:nvPr>
        </p:nvGraphicFramePr>
        <p:xfrm>
          <a:off x="237659" y="369332"/>
          <a:ext cx="11161986" cy="63611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71866"/>
                <a:gridCol w="2062716"/>
                <a:gridCol w="1930213"/>
                <a:gridCol w="1674224"/>
                <a:gridCol w="3190402"/>
                <a:gridCol w="1832565"/>
              </a:tblGrid>
              <a:tr h="3170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 err="1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sz="1300" b="1" baseline="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no</a:t>
                      </a:r>
                      <a:endParaRPr lang="en-IN" sz="13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3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(Equation Form)</a:t>
                      </a:r>
                      <a:endParaRPr lang="en-IN" sz="13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Range</a:t>
                      </a:r>
                      <a:endParaRPr lang="en-IN" sz="13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Significance to GLOF Risk</a:t>
                      </a:r>
                      <a:endParaRPr lang="en-IN" sz="13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Reference (Post-2020)</a:t>
                      </a:r>
                      <a:endParaRPr lang="en-IN" sz="13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0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Hypsometric Integral (HI)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 = (h̄ - h_min) / (h_max - h_min)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 – 0.6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HI → mature basin, more lake formation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Allen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2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Ice Compactness Index (ICI)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 = P / (2√(πA))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 (irregular), =1 (circular)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ICI → irregular shape, unstable margins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3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Accumulation Ratio (AR)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 = A_acc / A_total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 – 0.8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AR → retreating glacier → higher GLOF potential.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Bhambri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Snout Index (SI)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= W_snout / L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– 0.5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SI → narrow snout, weak moraine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5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Elongation Quotient (EQ)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 = L / √A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– 3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EQ → direct water funneling → increased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6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Relief Ratio (RR)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RR = (h_max - h_min) / L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– 0.5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RR → steep terrain → more energetic GLOF outbursts.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Rounce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3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7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Upslope Area (RUA)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RUA = A_upstream / A_total_basin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 – 0.8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RUA → more water input → higher GLOF risk.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3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8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Moraine Dam Slope (MDS)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MDS = Slope angle of moraine dam (degrees)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Steeper MDS → more prone to failure → higher GLOF risk.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Bazai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9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Lake Expansion Rate (LER)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LER = ΔA /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Δt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LER → unstable lake conditions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Khadka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10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to Glacier Terminus (DGT)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DGT = Distance from lake to glacier terminus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DGT → more ice calving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Gurung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 Freeboard (DF)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 = Elevation_dam_crest - Elevation_lake_surface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DF → easier overtopping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Dubey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12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Catchment Area (CA)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 = Total contributing drainage area (GIS)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CA → more runoff → increased lake volume → higher GLOF risk.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13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Slope of Ice Tongue (SIT)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 = Ice tongue slope (degrees)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Steeper SIT → more calving → higher GLOF trigger potential.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Gurung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9594" marR="19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50128" y="-13648"/>
            <a:ext cx="3349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Glacial Morphometric Parameters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0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74560"/>
              </p:ext>
            </p:extLst>
          </p:nvPr>
        </p:nvGraphicFramePr>
        <p:xfrm>
          <a:off x="259308" y="509713"/>
          <a:ext cx="11627894" cy="58352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967"/>
                <a:gridCol w="1820615"/>
                <a:gridCol w="2325578"/>
                <a:gridCol w="1585866"/>
                <a:gridCol w="3930556"/>
                <a:gridCol w="1460312"/>
              </a:tblGrid>
              <a:tr h="4319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No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Calculation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Range / Units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Significance to GLOF Risk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Reference (Post-2020)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Area (A)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measured lake surface area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 – 5 km²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area → more water stored → higher GLOF volume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 et al., 2022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2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Volume (V)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= A × Mean Depth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 – 1.5 km³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volume → greater potential outburst discharge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3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Depth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D̄ = V / A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– 50 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depth → more energy retained → stronger GLOF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Depth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max depth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– 100 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Deeper lakes → higher dam pressure → higher failure risk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2021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5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Shoreline Length (L)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lake perimeter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– 15 km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 shoreline → more irregularity → dam instability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6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Shoreline Development Index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 = L / (2√(πA))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– 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SDI → complex shape → unstable dam margins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al., 2022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7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Freeboard Height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 height from water surface to dam crest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– 10 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freeboard → easier overtopping → higher GLOF risk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2024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8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Lake Elevation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altitude above sea level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 – 5500 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elevation → rapid melt triggers → more GLOFs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Müller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9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Lake Length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horizontal length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– 5 km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 lakes → channeled flow → directed flood surge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10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Lake Width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horizontal width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– 2 km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Wider lakes → more volume → broader flood impact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al., 2022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11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Length-to-Width Ratio (L/W)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Lake Length / Lake Width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– 5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ratio → steep terrain → more energetic GLOFs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12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Catchment Area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area draining into lake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– 100 km²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area → more melt input → bigger GLOFs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 et al., 2023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13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Ice Contact Area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Glacier-lake contact zone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via remote sensing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contact → higher avalanche risk → GLOF trigger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al., 2024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14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Sediment Influx / Turbidity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sediment load or turbidity (NTU)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1000 NTU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turbidity → dam weakening → easier failure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2022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15</a:t>
                      </a:r>
                      <a:endParaRPr lang="en-IN" sz="13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 Type &amp; Composition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Moraine / ice / bedrock / mixed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Qualitative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Moraine dams → least stable → highest failure risk</a:t>
                      </a:r>
                      <a:endParaRPr lang="en-IN" sz="13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3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Bajracharya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  <a:endParaRPr lang="en-I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4398" marR="343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813" y="25012"/>
            <a:ext cx="3823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Glacial Lake Morphometric Parameters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571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1232</Words>
  <Application>Microsoft Office PowerPoint</Application>
  <PresentationFormat>Widescreen</PresentationFormat>
  <Paragraphs>239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MS Mincho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ghosh</dc:creator>
  <cp:lastModifiedBy>ghosh</cp:lastModifiedBy>
  <cp:revision>14</cp:revision>
  <dcterms:created xsi:type="dcterms:W3CDTF">2025-05-18T04:01:35Z</dcterms:created>
  <dcterms:modified xsi:type="dcterms:W3CDTF">2025-05-18T06:30:48Z</dcterms:modified>
</cp:coreProperties>
</file>